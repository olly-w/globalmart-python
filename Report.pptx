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1" r:id="rId2"/>
    <p:sldId id="263" r:id="rId3"/>
    <p:sldId id="264" r:id="rId4"/>
    <p:sldId id="265" r:id="rId5"/>
    <p:sldId id="266" r:id="rId6"/>
    <p:sldId id="267"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8" d="100"/>
          <a:sy n="58" d="100"/>
        </p:scale>
        <p:origin x="98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D1DAFA-24FA-4A5F-A8F9-F1828EB2F62B}" type="doc">
      <dgm:prSet loTypeId="urn:microsoft.com/office/officeart/2018/2/layout/IconLabelDescriptionList" loCatId="icon" qsTypeId="urn:microsoft.com/office/officeart/2005/8/quickstyle/simple2" qsCatId="simple" csTypeId="urn:microsoft.com/office/officeart/2005/8/colors/accent0_3" csCatId="mainScheme" phldr="1"/>
      <dgm:spPr/>
      <dgm:t>
        <a:bodyPr/>
        <a:lstStyle/>
        <a:p>
          <a:endParaRPr lang="en-GB"/>
        </a:p>
      </dgm:t>
    </dgm:pt>
    <dgm:pt modelId="{CBC6D3AC-81D3-417D-BD58-4888B92210A5}">
      <dgm:prSet phldrT="[Text]"/>
      <dgm:spPr/>
      <dgm:t>
        <a:bodyPr/>
        <a:lstStyle/>
        <a:p>
          <a:pPr>
            <a:lnSpc>
              <a:spcPct val="100000"/>
            </a:lnSpc>
            <a:defRPr b="1"/>
          </a:pPr>
          <a:r>
            <a:rPr lang="en-US" b="1">
              <a:effectLst/>
              <a:latin typeface="Aptos" panose="020B0004020202020204" pitchFamily="34" charset="0"/>
            </a:rPr>
            <a:t>Product and Regional Strategy</a:t>
          </a:r>
          <a:endParaRPr lang="en-GB"/>
        </a:p>
      </dgm:t>
    </dgm:pt>
    <dgm:pt modelId="{E96A2E1F-1590-486E-970A-C1166794E362}" type="parTrans" cxnId="{025ED03D-32A9-4ADC-8A35-C8E7A11A98DD}">
      <dgm:prSet/>
      <dgm:spPr/>
      <dgm:t>
        <a:bodyPr/>
        <a:lstStyle/>
        <a:p>
          <a:endParaRPr lang="en-GB"/>
        </a:p>
      </dgm:t>
    </dgm:pt>
    <dgm:pt modelId="{9CEEF17C-7BAD-46C2-ADD4-132E454D6389}" type="sibTrans" cxnId="{025ED03D-32A9-4ADC-8A35-C8E7A11A98DD}">
      <dgm:prSet/>
      <dgm:spPr/>
      <dgm:t>
        <a:bodyPr/>
        <a:lstStyle/>
        <a:p>
          <a:endParaRPr lang="en-GB"/>
        </a:p>
      </dgm:t>
    </dgm:pt>
    <dgm:pt modelId="{AEF7C608-F449-4278-A004-75A341C09555}">
      <dgm:prSet phldrT="[Text]"/>
      <dgm:spPr/>
      <dgm:t>
        <a:bodyPr/>
        <a:lstStyle/>
        <a:p>
          <a:pPr>
            <a:lnSpc>
              <a:spcPct val="100000"/>
            </a:lnSpc>
          </a:pPr>
          <a:r>
            <a:rPr lang="en-US" dirty="0">
              <a:effectLst/>
              <a:latin typeface="Aptos" panose="020B0004020202020204" pitchFamily="34" charset="0"/>
            </a:rPr>
            <a:t>Invest in high-performing categories (Technology and Furniture)</a:t>
          </a:r>
          <a:endParaRPr lang="en-GB" dirty="0"/>
        </a:p>
      </dgm:t>
    </dgm:pt>
    <dgm:pt modelId="{A45518C4-D54F-4404-8FA4-B186F084C221}" type="parTrans" cxnId="{256C637C-70B6-4F65-88CE-432F0E0F491B}">
      <dgm:prSet/>
      <dgm:spPr/>
      <dgm:t>
        <a:bodyPr/>
        <a:lstStyle/>
        <a:p>
          <a:endParaRPr lang="en-GB"/>
        </a:p>
      </dgm:t>
    </dgm:pt>
    <dgm:pt modelId="{E1714E1D-162F-4573-9B90-351BCD176E8E}" type="sibTrans" cxnId="{256C637C-70B6-4F65-88CE-432F0E0F491B}">
      <dgm:prSet/>
      <dgm:spPr/>
      <dgm:t>
        <a:bodyPr/>
        <a:lstStyle/>
        <a:p>
          <a:endParaRPr lang="en-GB"/>
        </a:p>
      </dgm:t>
    </dgm:pt>
    <dgm:pt modelId="{DCD4E0F3-68CA-486D-BE11-541D481C3D20}">
      <dgm:prSet phldrT="[Text]"/>
      <dgm:spPr/>
      <dgm:t>
        <a:bodyPr/>
        <a:lstStyle/>
        <a:p>
          <a:pPr>
            <a:lnSpc>
              <a:spcPct val="100000"/>
            </a:lnSpc>
            <a:defRPr b="1"/>
          </a:pPr>
          <a:r>
            <a:rPr lang="en-US" b="1">
              <a:effectLst/>
              <a:latin typeface="Aptos" panose="020B0004020202020204" pitchFamily="34" charset="0"/>
            </a:rPr>
            <a:t>Seasonal Efficiencies</a:t>
          </a:r>
          <a:endParaRPr lang="en-GB"/>
        </a:p>
      </dgm:t>
    </dgm:pt>
    <dgm:pt modelId="{2EB5AA3F-BB71-4363-8632-E9AA9CC2BB9D}" type="parTrans" cxnId="{2691BC26-1BD0-4D5E-A364-04DC1B3CD28C}">
      <dgm:prSet/>
      <dgm:spPr/>
      <dgm:t>
        <a:bodyPr/>
        <a:lstStyle/>
        <a:p>
          <a:endParaRPr lang="en-GB"/>
        </a:p>
      </dgm:t>
    </dgm:pt>
    <dgm:pt modelId="{9D6DF424-7B4F-4EBE-AD2F-392F64544881}" type="sibTrans" cxnId="{2691BC26-1BD0-4D5E-A364-04DC1B3CD28C}">
      <dgm:prSet/>
      <dgm:spPr/>
      <dgm:t>
        <a:bodyPr/>
        <a:lstStyle/>
        <a:p>
          <a:endParaRPr lang="en-GB"/>
        </a:p>
      </dgm:t>
    </dgm:pt>
    <dgm:pt modelId="{C30760A7-48D6-4081-BC31-F51AC179009B}">
      <dgm:prSet phldrT="[Text]"/>
      <dgm:spPr/>
      <dgm:t>
        <a:bodyPr/>
        <a:lstStyle/>
        <a:p>
          <a:pPr>
            <a:lnSpc>
              <a:spcPct val="100000"/>
            </a:lnSpc>
          </a:pPr>
          <a:r>
            <a:rPr lang="en-US" dirty="0">
              <a:effectLst/>
              <a:latin typeface="Aptos" panose="020B0004020202020204" pitchFamily="34" charset="0"/>
            </a:rPr>
            <a:t>Lean operations during the first quarter</a:t>
          </a:r>
          <a:endParaRPr lang="en-GB" dirty="0"/>
        </a:p>
      </dgm:t>
    </dgm:pt>
    <dgm:pt modelId="{5EEC7409-4301-47C0-9933-901BFFD93C54}" type="parTrans" cxnId="{3799708A-17C0-4F53-806F-981AD22CB415}">
      <dgm:prSet/>
      <dgm:spPr/>
      <dgm:t>
        <a:bodyPr/>
        <a:lstStyle/>
        <a:p>
          <a:endParaRPr lang="en-GB"/>
        </a:p>
      </dgm:t>
    </dgm:pt>
    <dgm:pt modelId="{0696512D-88CE-4587-BDB4-F8A86E02D7A2}" type="sibTrans" cxnId="{3799708A-17C0-4F53-806F-981AD22CB415}">
      <dgm:prSet/>
      <dgm:spPr/>
      <dgm:t>
        <a:bodyPr/>
        <a:lstStyle/>
        <a:p>
          <a:endParaRPr lang="en-GB"/>
        </a:p>
      </dgm:t>
    </dgm:pt>
    <dgm:pt modelId="{EE4CB0B3-7331-4AA0-91D2-EE1C245F103F}">
      <dgm:prSet phldrT="[Text]"/>
      <dgm:spPr/>
      <dgm:t>
        <a:bodyPr/>
        <a:lstStyle/>
        <a:p>
          <a:pPr>
            <a:lnSpc>
              <a:spcPct val="100000"/>
            </a:lnSpc>
            <a:defRPr b="1"/>
          </a:pPr>
          <a:r>
            <a:rPr lang="en-US" b="1" dirty="0">
              <a:effectLst/>
              <a:latin typeface="Aptos" panose="020B0004020202020204" pitchFamily="34" charset="0"/>
            </a:rPr>
            <a:t>Discounts</a:t>
          </a:r>
          <a:endParaRPr lang="en-GB" dirty="0"/>
        </a:p>
      </dgm:t>
    </dgm:pt>
    <dgm:pt modelId="{3C4B5D37-1992-4DF8-A04E-6345E0B1E6D3}" type="parTrans" cxnId="{50E2EB9B-07DB-4F2B-A656-67D1D8D0CCE0}">
      <dgm:prSet/>
      <dgm:spPr/>
      <dgm:t>
        <a:bodyPr/>
        <a:lstStyle/>
        <a:p>
          <a:endParaRPr lang="en-GB"/>
        </a:p>
      </dgm:t>
    </dgm:pt>
    <dgm:pt modelId="{1F44228D-48C5-4A5D-B322-DEE9C92DD940}" type="sibTrans" cxnId="{50E2EB9B-07DB-4F2B-A656-67D1D8D0CCE0}">
      <dgm:prSet/>
      <dgm:spPr/>
      <dgm:t>
        <a:bodyPr/>
        <a:lstStyle/>
        <a:p>
          <a:endParaRPr lang="en-GB"/>
        </a:p>
      </dgm:t>
    </dgm:pt>
    <dgm:pt modelId="{7AA43412-01DB-4581-B244-9164ACBD62E6}">
      <dgm:prSet phldrT="[Text]"/>
      <dgm:spPr/>
      <dgm:t>
        <a:bodyPr/>
        <a:lstStyle/>
        <a:p>
          <a:pPr>
            <a:lnSpc>
              <a:spcPct val="100000"/>
            </a:lnSpc>
          </a:pPr>
          <a:r>
            <a:rPr lang="en-US" dirty="0">
              <a:effectLst/>
              <a:latin typeface="Aptos" panose="020B0004020202020204" pitchFamily="34" charset="0"/>
            </a:rPr>
            <a:t>Avoid broad discounts to maintain profit margin</a:t>
          </a:r>
        </a:p>
        <a:p>
          <a:pPr>
            <a:lnSpc>
              <a:spcPct val="100000"/>
            </a:lnSpc>
          </a:pPr>
          <a:r>
            <a:rPr lang="en-US" dirty="0">
              <a:effectLst/>
              <a:latin typeface="Aptos" panose="020B0004020202020204" pitchFamily="34" charset="0"/>
            </a:rPr>
            <a:t>Launch a loyalty program to secure current growth into future value</a:t>
          </a:r>
          <a:endParaRPr lang="en-GB" dirty="0"/>
        </a:p>
      </dgm:t>
    </dgm:pt>
    <dgm:pt modelId="{24B891A3-BF1F-4D11-A1E2-0EC32534E0BF}" type="parTrans" cxnId="{3AED4B7D-58C5-445B-BFF4-4EE2643A69BA}">
      <dgm:prSet/>
      <dgm:spPr/>
      <dgm:t>
        <a:bodyPr/>
        <a:lstStyle/>
        <a:p>
          <a:endParaRPr lang="en-GB"/>
        </a:p>
      </dgm:t>
    </dgm:pt>
    <dgm:pt modelId="{8334BCD2-C86A-42EC-BE72-A056CC1B1965}" type="sibTrans" cxnId="{3AED4B7D-58C5-445B-BFF4-4EE2643A69BA}">
      <dgm:prSet/>
      <dgm:spPr/>
      <dgm:t>
        <a:bodyPr/>
        <a:lstStyle/>
        <a:p>
          <a:endParaRPr lang="en-GB"/>
        </a:p>
      </dgm:t>
    </dgm:pt>
    <dgm:pt modelId="{3CB21999-63C6-4117-8F9A-889FD2DD0A47}">
      <dgm:prSet/>
      <dgm:spPr/>
      <dgm:t>
        <a:bodyPr/>
        <a:lstStyle/>
        <a:p>
          <a:pPr>
            <a:lnSpc>
              <a:spcPct val="100000"/>
            </a:lnSpc>
          </a:pPr>
          <a:r>
            <a:rPr lang="en-US" dirty="0">
              <a:effectLst/>
              <a:latin typeface="Aptos" panose="020B0004020202020204" pitchFamily="34" charset="0"/>
            </a:rPr>
            <a:t>Localized Marketing strategy</a:t>
          </a:r>
        </a:p>
        <a:p>
          <a:pPr>
            <a:lnSpc>
              <a:spcPct val="100000"/>
            </a:lnSpc>
          </a:pPr>
          <a:r>
            <a:rPr lang="en-US" dirty="0">
              <a:effectLst/>
              <a:latin typeface="Aptos" panose="020B0004020202020204" pitchFamily="34" charset="0"/>
            </a:rPr>
            <a:t>Review Office Supplies: consider boosting sales or reallocating resources</a:t>
          </a:r>
        </a:p>
      </dgm:t>
    </dgm:pt>
    <dgm:pt modelId="{D01D79F8-174D-4A1F-8B69-40C713225B25}" type="parTrans" cxnId="{CEFB314E-10B1-4030-8FF9-769ED63A3312}">
      <dgm:prSet/>
      <dgm:spPr/>
      <dgm:t>
        <a:bodyPr/>
        <a:lstStyle/>
        <a:p>
          <a:endParaRPr lang="en-GB"/>
        </a:p>
      </dgm:t>
    </dgm:pt>
    <dgm:pt modelId="{62F43B04-E12C-4C22-8A53-1D26ACB6189F}" type="sibTrans" cxnId="{CEFB314E-10B1-4030-8FF9-769ED63A3312}">
      <dgm:prSet/>
      <dgm:spPr/>
      <dgm:t>
        <a:bodyPr/>
        <a:lstStyle/>
        <a:p>
          <a:endParaRPr lang="en-GB"/>
        </a:p>
      </dgm:t>
    </dgm:pt>
    <dgm:pt modelId="{BD989414-B981-4A59-9D51-1AAF96E7A6C9}">
      <dgm:prSet/>
      <dgm:spPr/>
      <dgm:t>
        <a:bodyPr/>
        <a:lstStyle/>
        <a:p>
          <a:pPr>
            <a:lnSpc>
              <a:spcPct val="100000"/>
            </a:lnSpc>
          </a:pPr>
          <a:r>
            <a:rPr lang="en-US" dirty="0">
              <a:effectLst/>
              <a:latin typeface="Aptos" panose="020B0004020202020204" pitchFamily="34" charset="0"/>
            </a:rPr>
            <a:t>Concentrate marketing budget on the June-September period</a:t>
          </a:r>
        </a:p>
      </dgm:t>
    </dgm:pt>
    <dgm:pt modelId="{A1535E06-D9AC-4335-BF4B-9D31CAA2BA57}" type="parTrans" cxnId="{CD1B8276-973F-4E5C-BB9A-ECB4E125D738}">
      <dgm:prSet/>
      <dgm:spPr/>
      <dgm:t>
        <a:bodyPr/>
        <a:lstStyle/>
        <a:p>
          <a:endParaRPr lang="en-GB"/>
        </a:p>
      </dgm:t>
    </dgm:pt>
    <dgm:pt modelId="{CDEC8842-AC68-42C1-AFF7-24890A8A48B2}" type="sibTrans" cxnId="{CD1B8276-973F-4E5C-BB9A-ECB4E125D738}">
      <dgm:prSet/>
      <dgm:spPr/>
      <dgm:t>
        <a:bodyPr/>
        <a:lstStyle/>
        <a:p>
          <a:endParaRPr lang="en-GB"/>
        </a:p>
      </dgm:t>
    </dgm:pt>
    <dgm:pt modelId="{9860AE0F-E685-461A-9A2E-67362DD134EF}">
      <dgm:prSet/>
      <dgm:spPr/>
      <dgm:t>
        <a:bodyPr/>
        <a:lstStyle/>
        <a:p>
          <a:pPr>
            <a:lnSpc>
              <a:spcPct val="100000"/>
            </a:lnSpc>
          </a:pPr>
          <a:r>
            <a:rPr lang="en-US" dirty="0">
              <a:effectLst/>
              <a:latin typeface="Aptos" panose="020B0004020202020204" pitchFamily="34" charset="0"/>
            </a:rPr>
            <a:t>Investigate what contributes to the shifting summer peak</a:t>
          </a:r>
        </a:p>
      </dgm:t>
    </dgm:pt>
    <dgm:pt modelId="{6BE8076E-ACCB-421D-BAB4-5DDCACB6F42E}" type="parTrans" cxnId="{0A6C7018-D734-4442-8F93-F9CA66DD1FE0}">
      <dgm:prSet/>
      <dgm:spPr/>
      <dgm:t>
        <a:bodyPr/>
        <a:lstStyle/>
        <a:p>
          <a:endParaRPr lang="en-GB"/>
        </a:p>
      </dgm:t>
    </dgm:pt>
    <dgm:pt modelId="{9B9668DD-A1F5-4066-B6E4-0FF8CADF6A13}" type="sibTrans" cxnId="{0A6C7018-D734-4442-8F93-F9CA66DD1FE0}">
      <dgm:prSet/>
      <dgm:spPr/>
      <dgm:t>
        <a:bodyPr/>
        <a:lstStyle/>
        <a:p>
          <a:endParaRPr lang="en-GB"/>
        </a:p>
      </dgm:t>
    </dgm:pt>
    <dgm:pt modelId="{70A04EB0-3D45-4AC1-B9FE-2B4420EC0DFF}" type="pres">
      <dgm:prSet presAssocID="{22D1DAFA-24FA-4A5F-A8F9-F1828EB2F62B}" presName="root" presStyleCnt="0">
        <dgm:presLayoutVars>
          <dgm:dir/>
          <dgm:resizeHandles val="exact"/>
        </dgm:presLayoutVars>
      </dgm:prSet>
      <dgm:spPr/>
    </dgm:pt>
    <dgm:pt modelId="{BEB8483B-04EF-47E8-9D1B-5F580B4D6FAD}" type="pres">
      <dgm:prSet presAssocID="{CBC6D3AC-81D3-417D-BD58-4888B92210A5}" presName="compNode" presStyleCnt="0"/>
      <dgm:spPr/>
    </dgm:pt>
    <dgm:pt modelId="{3EEA8859-891B-4408-A218-E74AC02B66B3}" type="pres">
      <dgm:prSet presAssocID="{CBC6D3AC-81D3-417D-BD58-4888B92210A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andshake"/>
        </a:ext>
      </dgm:extLst>
    </dgm:pt>
    <dgm:pt modelId="{CFEAAEE8-24E3-4867-9DB8-07AD0275333E}" type="pres">
      <dgm:prSet presAssocID="{CBC6D3AC-81D3-417D-BD58-4888B92210A5}" presName="iconSpace" presStyleCnt="0"/>
      <dgm:spPr/>
    </dgm:pt>
    <dgm:pt modelId="{F6190EA7-464E-4CF5-98F5-7F7E0E1652BC}" type="pres">
      <dgm:prSet presAssocID="{CBC6D3AC-81D3-417D-BD58-4888B92210A5}" presName="parTx" presStyleLbl="revTx" presStyleIdx="0" presStyleCnt="6">
        <dgm:presLayoutVars>
          <dgm:chMax val="0"/>
          <dgm:chPref val="0"/>
        </dgm:presLayoutVars>
      </dgm:prSet>
      <dgm:spPr/>
    </dgm:pt>
    <dgm:pt modelId="{3B6D8D17-2C07-4A22-8C2F-8BD1D5BB29EC}" type="pres">
      <dgm:prSet presAssocID="{CBC6D3AC-81D3-417D-BD58-4888B92210A5}" presName="txSpace" presStyleCnt="0"/>
      <dgm:spPr/>
    </dgm:pt>
    <dgm:pt modelId="{2731DEF4-7712-4B58-A24E-DB3D4B6F4F28}" type="pres">
      <dgm:prSet presAssocID="{CBC6D3AC-81D3-417D-BD58-4888B92210A5}" presName="desTx" presStyleLbl="revTx" presStyleIdx="1" presStyleCnt="6">
        <dgm:presLayoutVars/>
      </dgm:prSet>
      <dgm:spPr/>
    </dgm:pt>
    <dgm:pt modelId="{C2DF847B-E7F8-47CB-BFC0-CCA5C7B76FE9}" type="pres">
      <dgm:prSet presAssocID="{9CEEF17C-7BAD-46C2-ADD4-132E454D6389}" presName="sibTrans" presStyleCnt="0"/>
      <dgm:spPr/>
    </dgm:pt>
    <dgm:pt modelId="{1915A547-2F3A-49F6-85FE-877E95471BCC}" type="pres">
      <dgm:prSet presAssocID="{DCD4E0F3-68CA-486D-BE11-541D481C3D20}" presName="compNode" presStyleCnt="0"/>
      <dgm:spPr/>
    </dgm:pt>
    <dgm:pt modelId="{DEE9FFE8-7CEC-4021-8ACB-68E70EC70B1A}" type="pres">
      <dgm:prSet presAssocID="{DCD4E0F3-68CA-486D-BE11-541D481C3D2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9D29FFC2-0C3D-4F7F-B658-3E7319E0A8C1}" type="pres">
      <dgm:prSet presAssocID="{DCD4E0F3-68CA-486D-BE11-541D481C3D20}" presName="iconSpace" presStyleCnt="0"/>
      <dgm:spPr/>
    </dgm:pt>
    <dgm:pt modelId="{08304B65-0A68-4DE9-9CD2-2C970F56490E}" type="pres">
      <dgm:prSet presAssocID="{DCD4E0F3-68CA-486D-BE11-541D481C3D20}" presName="parTx" presStyleLbl="revTx" presStyleIdx="2" presStyleCnt="6">
        <dgm:presLayoutVars>
          <dgm:chMax val="0"/>
          <dgm:chPref val="0"/>
        </dgm:presLayoutVars>
      </dgm:prSet>
      <dgm:spPr/>
    </dgm:pt>
    <dgm:pt modelId="{4FC50DA7-099A-43F0-B38F-3596D827B855}" type="pres">
      <dgm:prSet presAssocID="{DCD4E0F3-68CA-486D-BE11-541D481C3D20}" presName="txSpace" presStyleCnt="0"/>
      <dgm:spPr/>
    </dgm:pt>
    <dgm:pt modelId="{59A3BD15-442B-4AE3-912F-E7679174D463}" type="pres">
      <dgm:prSet presAssocID="{DCD4E0F3-68CA-486D-BE11-541D481C3D20}" presName="desTx" presStyleLbl="revTx" presStyleIdx="3" presStyleCnt="6">
        <dgm:presLayoutVars/>
      </dgm:prSet>
      <dgm:spPr/>
    </dgm:pt>
    <dgm:pt modelId="{FED6E2FE-0028-48DF-A211-F2CE9B8AF4FF}" type="pres">
      <dgm:prSet presAssocID="{9D6DF424-7B4F-4EBE-AD2F-392F64544881}" presName="sibTrans" presStyleCnt="0"/>
      <dgm:spPr/>
    </dgm:pt>
    <dgm:pt modelId="{E9162603-EEB6-4F10-A536-FDCC29C9D666}" type="pres">
      <dgm:prSet presAssocID="{EE4CB0B3-7331-4AA0-91D2-EE1C245F103F}" presName="compNode" presStyleCnt="0"/>
      <dgm:spPr/>
    </dgm:pt>
    <dgm:pt modelId="{8808BE5E-5C3B-4743-AC2A-139CACAB74E5}" type="pres">
      <dgm:prSet presAssocID="{EE4CB0B3-7331-4AA0-91D2-EE1C245F103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oney"/>
        </a:ext>
      </dgm:extLst>
    </dgm:pt>
    <dgm:pt modelId="{E28DFBF1-10DA-4437-84BC-62BE7B1DB200}" type="pres">
      <dgm:prSet presAssocID="{EE4CB0B3-7331-4AA0-91D2-EE1C245F103F}" presName="iconSpace" presStyleCnt="0"/>
      <dgm:spPr/>
    </dgm:pt>
    <dgm:pt modelId="{AB5ECE9B-B60D-4915-A55F-48767DD20B34}" type="pres">
      <dgm:prSet presAssocID="{EE4CB0B3-7331-4AA0-91D2-EE1C245F103F}" presName="parTx" presStyleLbl="revTx" presStyleIdx="4" presStyleCnt="6">
        <dgm:presLayoutVars>
          <dgm:chMax val="0"/>
          <dgm:chPref val="0"/>
        </dgm:presLayoutVars>
      </dgm:prSet>
      <dgm:spPr/>
    </dgm:pt>
    <dgm:pt modelId="{BF879402-8482-442F-B230-E4535D034DF2}" type="pres">
      <dgm:prSet presAssocID="{EE4CB0B3-7331-4AA0-91D2-EE1C245F103F}" presName="txSpace" presStyleCnt="0"/>
      <dgm:spPr/>
    </dgm:pt>
    <dgm:pt modelId="{FF31083F-9A57-4793-B4AC-0DF981DA0840}" type="pres">
      <dgm:prSet presAssocID="{EE4CB0B3-7331-4AA0-91D2-EE1C245F103F}" presName="desTx" presStyleLbl="revTx" presStyleIdx="5" presStyleCnt="6">
        <dgm:presLayoutVars/>
      </dgm:prSet>
      <dgm:spPr/>
    </dgm:pt>
  </dgm:ptLst>
  <dgm:cxnLst>
    <dgm:cxn modelId="{76DAC502-EE8A-484D-87B1-DE9725D996CE}" type="presOf" srcId="{BD989414-B981-4A59-9D51-1AAF96E7A6C9}" destId="{59A3BD15-442B-4AE3-912F-E7679174D463}" srcOrd="0" destOrd="1" presId="urn:microsoft.com/office/officeart/2018/2/layout/IconLabelDescriptionList"/>
    <dgm:cxn modelId="{132C6204-5214-48D2-B848-0418A707DF08}" type="presOf" srcId="{AEF7C608-F449-4278-A004-75A341C09555}" destId="{2731DEF4-7712-4B58-A24E-DB3D4B6F4F28}" srcOrd="0" destOrd="0" presId="urn:microsoft.com/office/officeart/2018/2/layout/IconLabelDescriptionList"/>
    <dgm:cxn modelId="{0A6C7018-D734-4442-8F93-F9CA66DD1FE0}" srcId="{DCD4E0F3-68CA-486D-BE11-541D481C3D20}" destId="{9860AE0F-E685-461A-9A2E-67362DD134EF}" srcOrd="2" destOrd="0" parTransId="{6BE8076E-ACCB-421D-BAB4-5DDCACB6F42E}" sibTransId="{9B9668DD-A1F5-4066-B6E4-0FF8CADF6A13}"/>
    <dgm:cxn modelId="{2691BC26-1BD0-4D5E-A364-04DC1B3CD28C}" srcId="{22D1DAFA-24FA-4A5F-A8F9-F1828EB2F62B}" destId="{DCD4E0F3-68CA-486D-BE11-541D481C3D20}" srcOrd="1" destOrd="0" parTransId="{2EB5AA3F-BB71-4363-8632-E9AA9CC2BB9D}" sibTransId="{9D6DF424-7B4F-4EBE-AD2F-392F64544881}"/>
    <dgm:cxn modelId="{C2103930-2EEE-4F46-8B3C-756A8D1EA8EA}" type="presOf" srcId="{22D1DAFA-24FA-4A5F-A8F9-F1828EB2F62B}" destId="{70A04EB0-3D45-4AC1-B9FE-2B4420EC0DFF}" srcOrd="0" destOrd="0" presId="urn:microsoft.com/office/officeart/2018/2/layout/IconLabelDescriptionList"/>
    <dgm:cxn modelId="{025ED03D-32A9-4ADC-8A35-C8E7A11A98DD}" srcId="{22D1DAFA-24FA-4A5F-A8F9-F1828EB2F62B}" destId="{CBC6D3AC-81D3-417D-BD58-4888B92210A5}" srcOrd="0" destOrd="0" parTransId="{E96A2E1F-1590-486E-970A-C1166794E362}" sibTransId="{9CEEF17C-7BAD-46C2-ADD4-132E454D6389}"/>
    <dgm:cxn modelId="{F9C7055C-4EA7-4353-AD0E-983279044551}" type="presOf" srcId="{3CB21999-63C6-4117-8F9A-889FD2DD0A47}" destId="{2731DEF4-7712-4B58-A24E-DB3D4B6F4F28}" srcOrd="0" destOrd="1" presId="urn:microsoft.com/office/officeart/2018/2/layout/IconLabelDescriptionList"/>
    <dgm:cxn modelId="{CEFB314E-10B1-4030-8FF9-769ED63A3312}" srcId="{CBC6D3AC-81D3-417D-BD58-4888B92210A5}" destId="{3CB21999-63C6-4117-8F9A-889FD2DD0A47}" srcOrd="1" destOrd="0" parTransId="{D01D79F8-174D-4A1F-8B69-40C713225B25}" sibTransId="{62F43B04-E12C-4C22-8A53-1D26ACB6189F}"/>
    <dgm:cxn modelId="{CD1B8276-973F-4E5C-BB9A-ECB4E125D738}" srcId="{DCD4E0F3-68CA-486D-BE11-541D481C3D20}" destId="{BD989414-B981-4A59-9D51-1AAF96E7A6C9}" srcOrd="1" destOrd="0" parTransId="{A1535E06-D9AC-4335-BF4B-9D31CAA2BA57}" sibTransId="{CDEC8842-AC68-42C1-AFF7-24890A8A48B2}"/>
    <dgm:cxn modelId="{CEDEF757-F86C-4498-A426-9F812B9DC3A5}" type="presOf" srcId="{CBC6D3AC-81D3-417D-BD58-4888B92210A5}" destId="{F6190EA7-464E-4CF5-98F5-7F7E0E1652BC}" srcOrd="0" destOrd="0" presId="urn:microsoft.com/office/officeart/2018/2/layout/IconLabelDescriptionList"/>
    <dgm:cxn modelId="{256C637C-70B6-4F65-88CE-432F0E0F491B}" srcId="{CBC6D3AC-81D3-417D-BD58-4888B92210A5}" destId="{AEF7C608-F449-4278-A004-75A341C09555}" srcOrd="0" destOrd="0" parTransId="{A45518C4-D54F-4404-8FA4-B186F084C221}" sibTransId="{E1714E1D-162F-4573-9B90-351BCD176E8E}"/>
    <dgm:cxn modelId="{3AED4B7D-58C5-445B-BFF4-4EE2643A69BA}" srcId="{EE4CB0B3-7331-4AA0-91D2-EE1C245F103F}" destId="{7AA43412-01DB-4581-B244-9164ACBD62E6}" srcOrd="0" destOrd="0" parTransId="{24B891A3-BF1F-4D11-A1E2-0EC32534E0BF}" sibTransId="{8334BCD2-C86A-42EC-BE72-A056CC1B1965}"/>
    <dgm:cxn modelId="{3799708A-17C0-4F53-806F-981AD22CB415}" srcId="{DCD4E0F3-68CA-486D-BE11-541D481C3D20}" destId="{C30760A7-48D6-4081-BC31-F51AC179009B}" srcOrd="0" destOrd="0" parTransId="{5EEC7409-4301-47C0-9933-901BFFD93C54}" sibTransId="{0696512D-88CE-4587-BDB4-F8A86E02D7A2}"/>
    <dgm:cxn modelId="{50E2EB9B-07DB-4F2B-A656-67D1D8D0CCE0}" srcId="{22D1DAFA-24FA-4A5F-A8F9-F1828EB2F62B}" destId="{EE4CB0B3-7331-4AA0-91D2-EE1C245F103F}" srcOrd="2" destOrd="0" parTransId="{3C4B5D37-1992-4DF8-A04E-6345E0B1E6D3}" sibTransId="{1F44228D-48C5-4A5D-B322-DEE9C92DD940}"/>
    <dgm:cxn modelId="{8B2742AF-F699-4917-B4B9-2F0ABDBB3829}" type="presOf" srcId="{C30760A7-48D6-4081-BC31-F51AC179009B}" destId="{59A3BD15-442B-4AE3-912F-E7679174D463}" srcOrd="0" destOrd="0" presId="urn:microsoft.com/office/officeart/2018/2/layout/IconLabelDescriptionList"/>
    <dgm:cxn modelId="{D94639C8-7731-42C7-AB31-3B97FD0DCCDD}" type="presOf" srcId="{7AA43412-01DB-4581-B244-9164ACBD62E6}" destId="{FF31083F-9A57-4793-B4AC-0DF981DA0840}" srcOrd="0" destOrd="0" presId="urn:microsoft.com/office/officeart/2018/2/layout/IconLabelDescriptionList"/>
    <dgm:cxn modelId="{40CD18D7-0F8F-48C2-B17D-4AE333DB1700}" type="presOf" srcId="{EE4CB0B3-7331-4AA0-91D2-EE1C245F103F}" destId="{AB5ECE9B-B60D-4915-A55F-48767DD20B34}" srcOrd="0" destOrd="0" presId="urn:microsoft.com/office/officeart/2018/2/layout/IconLabelDescriptionList"/>
    <dgm:cxn modelId="{7661F2D7-1CAA-4FF5-96F3-408155208BDF}" type="presOf" srcId="{DCD4E0F3-68CA-486D-BE11-541D481C3D20}" destId="{08304B65-0A68-4DE9-9CD2-2C970F56490E}" srcOrd="0" destOrd="0" presId="urn:microsoft.com/office/officeart/2018/2/layout/IconLabelDescriptionList"/>
    <dgm:cxn modelId="{9B11BFF9-57E6-40CC-B339-749303AA7C5C}" type="presOf" srcId="{9860AE0F-E685-461A-9A2E-67362DD134EF}" destId="{59A3BD15-442B-4AE3-912F-E7679174D463}" srcOrd="0" destOrd="2" presId="urn:microsoft.com/office/officeart/2018/2/layout/IconLabelDescriptionList"/>
    <dgm:cxn modelId="{9FCECF69-4D0A-4037-86C7-E0DE6BB791C3}" type="presParOf" srcId="{70A04EB0-3D45-4AC1-B9FE-2B4420EC0DFF}" destId="{BEB8483B-04EF-47E8-9D1B-5F580B4D6FAD}" srcOrd="0" destOrd="0" presId="urn:microsoft.com/office/officeart/2018/2/layout/IconLabelDescriptionList"/>
    <dgm:cxn modelId="{330CF38A-1119-47F2-B7C7-96F742F1302A}" type="presParOf" srcId="{BEB8483B-04EF-47E8-9D1B-5F580B4D6FAD}" destId="{3EEA8859-891B-4408-A218-E74AC02B66B3}" srcOrd="0" destOrd="0" presId="urn:microsoft.com/office/officeart/2018/2/layout/IconLabelDescriptionList"/>
    <dgm:cxn modelId="{C5D5F073-E578-4E09-A545-F0EB06FAA71F}" type="presParOf" srcId="{BEB8483B-04EF-47E8-9D1B-5F580B4D6FAD}" destId="{CFEAAEE8-24E3-4867-9DB8-07AD0275333E}" srcOrd="1" destOrd="0" presId="urn:microsoft.com/office/officeart/2018/2/layout/IconLabelDescriptionList"/>
    <dgm:cxn modelId="{D746158E-360F-4681-B42A-0A9FD6FB95EA}" type="presParOf" srcId="{BEB8483B-04EF-47E8-9D1B-5F580B4D6FAD}" destId="{F6190EA7-464E-4CF5-98F5-7F7E0E1652BC}" srcOrd="2" destOrd="0" presId="urn:microsoft.com/office/officeart/2018/2/layout/IconLabelDescriptionList"/>
    <dgm:cxn modelId="{4AB2CA43-1A37-454F-95F6-5ED33191AE66}" type="presParOf" srcId="{BEB8483B-04EF-47E8-9D1B-5F580B4D6FAD}" destId="{3B6D8D17-2C07-4A22-8C2F-8BD1D5BB29EC}" srcOrd="3" destOrd="0" presId="urn:microsoft.com/office/officeart/2018/2/layout/IconLabelDescriptionList"/>
    <dgm:cxn modelId="{542357BF-2095-4A22-93F6-994B45E0465E}" type="presParOf" srcId="{BEB8483B-04EF-47E8-9D1B-5F580B4D6FAD}" destId="{2731DEF4-7712-4B58-A24E-DB3D4B6F4F28}" srcOrd="4" destOrd="0" presId="urn:microsoft.com/office/officeart/2018/2/layout/IconLabelDescriptionList"/>
    <dgm:cxn modelId="{97C3F97C-9236-4C15-9835-957881A46B0A}" type="presParOf" srcId="{70A04EB0-3D45-4AC1-B9FE-2B4420EC0DFF}" destId="{C2DF847B-E7F8-47CB-BFC0-CCA5C7B76FE9}" srcOrd="1" destOrd="0" presId="urn:microsoft.com/office/officeart/2018/2/layout/IconLabelDescriptionList"/>
    <dgm:cxn modelId="{DE0013FE-1BCB-44D5-98A9-131AAAB2F024}" type="presParOf" srcId="{70A04EB0-3D45-4AC1-B9FE-2B4420EC0DFF}" destId="{1915A547-2F3A-49F6-85FE-877E95471BCC}" srcOrd="2" destOrd="0" presId="urn:microsoft.com/office/officeart/2018/2/layout/IconLabelDescriptionList"/>
    <dgm:cxn modelId="{3A616B27-3F32-4CB7-BB3D-185584D3394A}" type="presParOf" srcId="{1915A547-2F3A-49F6-85FE-877E95471BCC}" destId="{DEE9FFE8-7CEC-4021-8ACB-68E70EC70B1A}" srcOrd="0" destOrd="0" presId="urn:microsoft.com/office/officeart/2018/2/layout/IconLabelDescriptionList"/>
    <dgm:cxn modelId="{9655EE14-424C-4B92-999F-4F287F7960B6}" type="presParOf" srcId="{1915A547-2F3A-49F6-85FE-877E95471BCC}" destId="{9D29FFC2-0C3D-4F7F-B658-3E7319E0A8C1}" srcOrd="1" destOrd="0" presId="urn:microsoft.com/office/officeart/2018/2/layout/IconLabelDescriptionList"/>
    <dgm:cxn modelId="{C8EABB5E-3A3D-4A55-AE27-FDAA26E1E26B}" type="presParOf" srcId="{1915A547-2F3A-49F6-85FE-877E95471BCC}" destId="{08304B65-0A68-4DE9-9CD2-2C970F56490E}" srcOrd="2" destOrd="0" presId="urn:microsoft.com/office/officeart/2018/2/layout/IconLabelDescriptionList"/>
    <dgm:cxn modelId="{6C91F03C-49E5-4971-B4A7-C81DDA058859}" type="presParOf" srcId="{1915A547-2F3A-49F6-85FE-877E95471BCC}" destId="{4FC50DA7-099A-43F0-B38F-3596D827B855}" srcOrd="3" destOrd="0" presId="urn:microsoft.com/office/officeart/2018/2/layout/IconLabelDescriptionList"/>
    <dgm:cxn modelId="{24EF6E1B-144E-4C6D-BF03-D084C23B344F}" type="presParOf" srcId="{1915A547-2F3A-49F6-85FE-877E95471BCC}" destId="{59A3BD15-442B-4AE3-912F-E7679174D463}" srcOrd="4" destOrd="0" presId="urn:microsoft.com/office/officeart/2018/2/layout/IconLabelDescriptionList"/>
    <dgm:cxn modelId="{26C2BBD9-387D-4D59-8FF4-FE0905CDE2B5}" type="presParOf" srcId="{70A04EB0-3D45-4AC1-B9FE-2B4420EC0DFF}" destId="{FED6E2FE-0028-48DF-A211-F2CE9B8AF4FF}" srcOrd="3" destOrd="0" presId="urn:microsoft.com/office/officeart/2018/2/layout/IconLabelDescriptionList"/>
    <dgm:cxn modelId="{E59D219E-2A1D-4E4F-8178-8CD5232CC25F}" type="presParOf" srcId="{70A04EB0-3D45-4AC1-B9FE-2B4420EC0DFF}" destId="{E9162603-EEB6-4F10-A536-FDCC29C9D666}" srcOrd="4" destOrd="0" presId="urn:microsoft.com/office/officeart/2018/2/layout/IconLabelDescriptionList"/>
    <dgm:cxn modelId="{02B1DFB0-9B25-4E7F-A8C0-41664121376D}" type="presParOf" srcId="{E9162603-EEB6-4F10-A536-FDCC29C9D666}" destId="{8808BE5E-5C3B-4743-AC2A-139CACAB74E5}" srcOrd="0" destOrd="0" presId="urn:microsoft.com/office/officeart/2018/2/layout/IconLabelDescriptionList"/>
    <dgm:cxn modelId="{6151FE47-7A21-4C35-B574-7A48E8AC2E20}" type="presParOf" srcId="{E9162603-EEB6-4F10-A536-FDCC29C9D666}" destId="{E28DFBF1-10DA-4437-84BC-62BE7B1DB200}" srcOrd="1" destOrd="0" presId="urn:microsoft.com/office/officeart/2018/2/layout/IconLabelDescriptionList"/>
    <dgm:cxn modelId="{18BC1886-CDE6-4132-B153-525E00798551}" type="presParOf" srcId="{E9162603-EEB6-4F10-A536-FDCC29C9D666}" destId="{AB5ECE9B-B60D-4915-A55F-48767DD20B34}" srcOrd="2" destOrd="0" presId="urn:microsoft.com/office/officeart/2018/2/layout/IconLabelDescriptionList"/>
    <dgm:cxn modelId="{FD069B71-474F-45AA-8EC7-5CA9E1F59457}" type="presParOf" srcId="{E9162603-EEB6-4F10-A536-FDCC29C9D666}" destId="{BF879402-8482-442F-B230-E4535D034DF2}" srcOrd="3" destOrd="0" presId="urn:microsoft.com/office/officeart/2018/2/layout/IconLabelDescriptionList"/>
    <dgm:cxn modelId="{A831BA84-B37A-4624-9B2B-DC2485398097}" type="presParOf" srcId="{E9162603-EEB6-4F10-A536-FDCC29C9D666}" destId="{FF31083F-9A57-4793-B4AC-0DF981DA0840}"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A8859-891B-4408-A218-E74AC02B66B3}">
      <dsp:nvSpPr>
        <dsp:cNvPr id="0" name=""/>
        <dsp:cNvSpPr/>
      </dsp:nvSpPr>
      <dsp:spPr>
        <a:xfrm>
          <a:off x="1582" y="603022"/>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F6190EA7-464E-4CF5-98F5-7F7E0E1652BC}">
      <dsp:nvSpPr>
        <dsp:cNvPr id="0" name=""/>
        <dsp:cNvSpPr/>
      </dsp:nvSpPr>
      <dsp:spPr>
        <a:xfrm>
          <a:off x="1582" y="1872836"/>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effectLst/>
              <a:latin typeface="Aptos" panose="020B0004020202020204" pitchFamily="34" charset="0"/>
            </a:rPr>
            <a:t>Product and Regional Strategy</a:t>
          </a:r>
          <a:endParaRPr lang="en-GB" sz="1800" kern="1200"/>
        </a:p>
      </dsp:txBody>
      <dsp:txXfrm>
        <a:off x="1582" y="1872836"/>
        <a:ext cx="3261093" cy="489164"/>
      </dsp:txXfrm>
    </dsp:sp>
    <dsp:sp modelId="{2731DEF4-7712-4B58-A24E-DB3D4B6F4F28}">
      <dsp:nvSpPr>
        <dsp:cNvPr id="0" name=""/>
        <dsp:cNvSpPr/>
      </dsp:nvSpPr>
      <dsp:spPr>
        <a:xfrm>
          <a:off x="1582" y="2421735"/>
          <a:ext cx="3261093" cy="116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dirty="0">
              <a:effectLst/>
              <a:latin typeface="Aptos" panose="020B0004020202020204" pitchFamily="34" charset="0"/>
            </a:rPr>
            <a:t>Invest in high-performing categories (Technology and Furniture)</a:t>
          </a:r>
          <a:endParaRPr lang="en-GB" sz="1300" kern="1200" dirty="0"/>
        </a:p>
        <a:p>
          <a:pPr marL="0" lvl="0" indent="0" algn="l" defTabSz="577850">
            <a:lnSpc>
              <a:spcPct val="100000"/>
            </a:lnSpc>
            <a:spcBef>
              <a:spcPct val="0"/>
            </a:spcBef>
            <a:spcAft>
              <a:spcPct val="35000"/>
            </a:spcAft>
            <a:buNone/>
          </a:pPr>
          <a:r>
            <a:rPr lang="en-US" sz="1300" kern="1200" dirty="0">
              <a:effectLst/>
              <a:latin typeface="Aptos" panose="020B0004020202020204" pitchFamily="34" charset="0"/>
            </a:rPr>
            <a:t>Localized Marketing strategy</a:t>
          </a:r>
        </a:p>
        <a:p>
          <a:pPr marL="0" lvl="0" indent="0" algn="l" defTabSz="577850">
            <a:lnSpc>
              <a:spcPct val="100000"/>
            </a:lnSpc>
            <a:spcBef>
              <a:spcPct val="0"/>
            </a:spcBef>
            <a:spcAft>
              <a:spcPct val="35000"/>
            </a:spcAft>
            <a:buNone/>
          </a:pPr>
          <a:r>
            <a:rPr lang="en-US" sz="1300" kern="1200" dirty="0">
              <a:effectLst/>
              <a:latin typeface="Aptos" panose="020B0004020202020204" pitchFamily="34" charset="0"/>
            </a:rPr>
            <a:t>Review Office Supplies: consider boosting sales or reallocating resources</a:t>
          </a:r>
        </a:p>
      </dsp:txBody>
      <dsp:txXfrm>
        <a:off x="1582" y="2421735"/>
        <a:ext cx="3261093" cy="1168046"/>
      </dsp:txXfrm>
    </dsp:sp>
    <dsp:sp modelId="{DEE9FFE8-7CEC-4021-8ACB-68E70EC70B1A}">
      <dsp:nvSpPr>
        <dsp:cNvPr id="0" name=""/>
        <dsp:cNvSpPr/>
      </dsp:nvSpPr>
      <dsp:spPr>
        <a:xfrm>
          <a:off x="3833367" y="603022"/>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8304B65-0A68-4DE9-9CD2-2C970F56490E}">
      <dsp:nvSpPr>
        <dsp:cNvPr id="0" name=""/>
        <dsp:cNvSpPr/>
      </dsp:nvSpPr>
      <dsp:spPr>
        <a:xfrm>
          <a:off x="3833367" y="1872836"/>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effectLst/>
              <a:latin typeface="Aptos" panose="020B0004020202020204" pitchFamily="34" charset="0"/>
            </a:rPr>
            <a:t>Seasonal Efficiencies</a:t>
          </a:r>
          <a:endParaRPr lang="en-GB" sz="1800" kern="1200"/>
        </a:p>
      </dsp:txBody>
      <dsp:txXfrm>
        <a:off x="3833367" y="1872836"/>
        <a:ext cx="3261093" cy="489164"/>
      </dsp:txXfrm>
    </dsp:sp>
    <dsp:sp modelId="{59A3BD15-442B-4AE3-912F-E7679174D463}">
      <dsp:nvSpPr>
        <dsp:cNvPr id="0" name=""/>
        <dsp:cNvSpPr/>
      </dsp:nvSpPr>
      <dsp:spPr>
        <a:xfrm>
          <a:off x="3833367" y="2421735"/>
          <a:ext cx="3261093" cy="116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dirty="0">
              <a:effectLst/>
              <a:latin typeface="Aptos" panose="020B0004020202020204" pitchFamily="34" charset="0"/>
            </a:rPr>
            <a:t>Lean operations during the first quarter</a:t>
          </a:r>
          <a:endParaRPr lang="en-GB" sz="1300" kern="1200" dirty="0"/>
        </a:p>
        <a:p>
          <a:pPr marL="0" lvl="0" indent="0" algn="l" defTabSz="577850">
            <a:lnSpc>
              <a:spcPct val="100000"/>
            </a:lnSpc>
            <a:spcBef>
              <a:spcPct val="0"/>
            </a:spcBef>
            <a:spcAft>
              <a:spcPct val="35000"/>
            </a:spcAft>
            <a:buNone/>
          </a:pPr>
          <a:r>
            <a:rPr lang="en-US" sz="1300" kern="1200" dirty="0">
              <a:effectLst/>
              <a:latin typeface="Aptos" panose="020B0004020202020204" pitchFamily="34" charset="0"/>
            </a:rPr>
            <a:t>Concentrate marketing budget on the June-September period</a:t>
          </a:r>
        </a:p>
        <a:p>
          <a:pPr marL="0" lvl="0" indent="0" algn="l" defTabSz="577850">
            <a:lnSpc>
              <a:spcPct val="100000"/>
            </a:lnSpc>
            <a:spcBef>
              <a:spcPct val="0"/>
            </a:spcBef>
            <a:spcAft>
              <a:spcPct val="35000"/>
            </a:spcAft>
            <a:buNone/>
          </a:pPr>
          <a:r>
            <a:rPr lang="en-US" sz="1300" kern="1200" dirty="0">
              <a:effectLst/>
              <a:latin typeface="Aptos" panose="020B0004020202020204" pitchFamily="34" charset="0"/>
            </a:rPr>
            <a:t>Investigate what contributes to the shifting summer peak</a:t>
          </a:r>
        </a:p>
      </dsp:txBody>
      <dsp:txXfrm>
        <a:off x="3833367" y="2421735"/>
        <a:ext cx="3261093" cy="1168046"/>
      </dsp:txXfrm>
    </dsp:sp>
    <dsp:sp modelId="{8808BE5E-5C3B-4743-AC2A-139CACAB74E5}">
      <dsp:nvSpPr>
        <dsp:cNvPr id="0" name=""/>
        <dsp:cNvSpPr/>
      </dsp:nvSpPr>
      <dsp:spPr>
        <a:xfrm>
          <a:off x="7665152" y="603022"/>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AB5ECE9B-B60D-4915-A55F-48767DD20B34}">
      <dsp:nvSpPr>
        <dsp:cNvPr id="0" name=""/>
        <dsp:cNvSpPr/>
      </dsp:nvSpPr>
      <dsp:spPr>
        <a:xfrm>
          <a:off x="7665152" y="1872836"/>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dirty="0">
              <a:effectLst/>
              <a:latin typeface="Aptos" panose="020B0004020202020204" pitchFamily="34" charset="0"/>
            </a:rPr>
            <a:t>Discounts</a:t>
          </a:r>
          <a:endParaRPr lang="en-GB" sz="1800" kern="1200" dirty="0"/>
        </a:p>
      </dsp:txBody>
      <dsp:txXfrm>
        <a:off x="7665152" y="1872836"/>
        <a:ext cx="3261093" cy="489164"/>
      </dsp:txXfrm>
    </dsp:sp>
    <dsp:sp modelId="{FF31083F-9A57-4793-B4AC-0DF981DA0840}">
      <dsp:nvSpPr>
        <dsp:cNvPr id="0" name=""/>
        <dsp:cNvSpPr/>
      </dsp:nvSpPr>
      <dsp:spPr>
        <a:xfrm>
          <a:off x="7665152" y="2421735"/>
          <a:ext cx="3261093" cy="116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dirty="0">
              <a:effectLst/>
              <a:latin typeface="Aptos" panose="020B0004020202020204" pitchFamily="34" charset="0"/>
            </a:rPr>
            <a:t>Avoid broad discounts to maintain profit margin</a:t>
          </a:r>
        </a:p>
        <a:p>
          <a:pPr marL="0" lvl="0" indent="0" algn="l" defTabSz="577850">
            <a:lnSpc>
              <a:spcPct val="100000"/>
            </a:lnSpc>
            <a:spcBef>
              <a:spcPct val="0"/>
            </a:spcBef>
            <a:spcAft>
              <a:spcPct val="35000"/>
            </a:spcAft>
            <a:buNone/>
          </a:pPr>
          <a:r>
            <a:rPr lang="en-US" sz="1300" kern="1200" dirty="0">
              <a:effectLst/>
              <a:latin typeface="Aptos" panose="020B0004020202020204" pitchFamily="34" charset="0"/>
            </a:rPr>
            <a:t>Launch a loyalty program to secure current growth into future value</a:t>
          </a:r>
          <a:endParaRPr lang="en-GB" sz="1300" kern="1200" dirty="0"/>
        </a:p>
      </dsp:txBody>
      <dsp:txXfrm>
        <a:off x="7665152" y="2421735"/>
        <a:ext cx="3261093" cy="116804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19F311-BADE-41EF-9746-149C181FAC67}" type="datetimeFigureOut">
              <a:rPr lang="en-GB" smtClean="0"/>
              <a:t>16/04/2026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D19584-0EFF-4C24-B8A0-6A2250751478}" type="slidenum">
              <a:rPr lang="en-GB" smtClean="0"/>
              <a:t>‹#›</a:t>
            </a:fld>
            <a:endParaRPr lang="en-GB"/>
          </a:p>
        </p:txBody>
      </p:sp>
    </p:spTree>
    <p:extLst>
      <p:ext uri="{BB962C8B-B14F-4D97-AF65-F5344CB8AC3E}">
        <p14:creationId xmlns:p14="http://schemas.microsoft.com/office/powerpoint/2010/main" val="1791823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37B6-AE3E-36FC-9A96-6BFB56B947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00CB120-3791-8495-15BA-BE2FC7DC88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02141F0-D112-BB09-7ACC-06649340868A}"/>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5" name="Footer Placeholder 4">
            <a:extLst>
              <a:ext uri="{FF2B5EF4-FFF2-40B4-BE49-F238E27FC236}">
                <a16:creationId xmlns:a16="http://schemas.microsoft.com/office/drawing/2014/main" id="{F3114B2B-B790-C22F-4CD2-8CE26BD989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14F8F2-00D2-838A-47E8-D9988009FA78}"/>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186421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A17D6-40E2-82CE-F3EE-9ADC7BF588D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AC1C855-EC3D-7183-52A5-4720A7B719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2E8C7DA-D030-1997-CDB2-D65FCCC0236C}"/>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5" name="Footer Placeholder 4">
            <a:extLst>
              <a:ext uri="{FF2B5EF4-FFF2-40B4-BE49-F238E27FC236}">
                <a16:creationId xmlns:a16="http://schemas.microsoft.com/office/drawing/2014/main" id="{869C4FE9-644E-E23A-38D1-A800EE19A9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6D3BBD-D7F4-0E6A-A562-C4514D0E6EBD}"/>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4022000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CBEAE-FDE6-A087-7EAA-08B8A7C060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F5942B6-77AE-3352-F34A-6FD7DEA548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3DC219-DC2E-868F-EF86-5D8360BA632F}"/>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5" name="Footer Placeholder 4">
            <a:extLst>
              <a:ext uri="{FF2B5EF4-FFF2-40B4-BE49-F238E27FC236}">
                <a16:creationId xmlns:a16="http://schemas.microsoft.com/office/drawing/2014/main" id="{F2D61A40-761C-7803-CB18-43B26C8916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95F4808-9234-F348-3491-26B82511B4C4}"/>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2118450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A921C-4CFC-C53F-7AE5-BB19506AB9B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14DD836-24C2-E043-4636-CDE35DE7CE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CCF5B9A-5926-9697-696F-7A00797A9F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D5714B5-55E2-5C9C-120B-8126D94F002B}"/>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6" name="Footer Placeholder 5">
            <a:extLst>
              <a:ext uri="{FF2B5EF4-FFF2-40B4-BE49-F238E27FC236}">
                <a16:creationId xmlns:a16="http://schemas.microsoft.com/office/drawing/2014/main" id="{D3E143E2-EE8F-EFBF-CE3E-D12EE38428F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75C65C6-6127-9B13-692E-76E54D306401}"/>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1443114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04459-05C0-68AF-6D33-690C141CA3D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721CBE2-C1C5-1511-EAF4-30AE2AFD27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A9CC12-6D19-BCD6-5655-2F32D64745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9A412F2-5207-AA8F-DE09-8DC83E1AEF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D9D2B5-69D5-90E4-9372-C40512EFDA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36B02D3-F92E-EC7D-3DC4-1B5981DB04B9}"/>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8" name="Footer Placeholder 7">
            <a:extLst>
              <a:ext uri="{FF2B5EF4-FFF2-40B4-BE49-F238E27FC236}">
                <a16:creationId xmlns:a16="http://schemas.microsoft.com/office/drawing/2014/main" id="{A1885F9A-4D31-FF51-C162-03E21E08808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6E617BE-B8DB-BA62-1328-B6ECCA724EC5}"/>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1436452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3F764-869F-5A91-0EF6-712DE00454B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145D3DE-AE21-BFA8-84DE-3294D32E620E}"/>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4" name="Footer Placeholder 3">
            <a:extLst>
              <a:ext uri="{FF2B5EF4-FFF2-40B4-BE49-F238E27FC236}">
                <a16:creationId xmlns:a16="http://schemas.microsoft.com/office/drawing/2014/main" id="{EDEB3DB7-5B19-6B6A-B28C-308D61CC490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9BA2606-25A0-AC66-500B-87DFA1F9F786}"/>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4180918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7AF281-7527-F7ED-49CE-68BFD26EB521}"/>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3" name="Footer Placeholder 2">
            <a:extLst>
              <a:ext uri="{FF2B5EF4-FFF2-40B4-BE49-F238E27FC236}">
                <a16:creationId xmlns:a16="http://schemas.microsoft.com/office/drawing/2014/main" id="{959D529F-AE78-4124-6FB8-4C5B823F42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54B91A6-C72D-4D36-7742-EA9248149518}"/>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826032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48866-63BE-F606-73BC-5F24038204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AC645AB-5AFE-3270-1A1D-DB23E54CF9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5E12E6B-6805-9CE3-0077-BB86C98C0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5E9505-5428-CB07-2F84-B0253B126F71}"/>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6" name="Footer Placeholder 5">
            <a:extLst>
              <a:ext uri="{FF2B5EF4-FFF2-40B4-BE49-F238E27FC236}">
                <a16:creationId xmlns:a16="http://schemas.microsoft.com/office/drawing/2014/main" id="{EBC42CB9-482F-3BD8-3B90-9786E2F1A3C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F1C1416-1B88-D565-34C1-E3B51B5EF61A}"/>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6829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B6CC1-7FD0-B65F-546E-30D77F3989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A68CE5B-E6AE-3C7E-8585-6C94FF1D30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870CE88-E975-AB1E-86D2-EFBA0215B5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B95CC4-CDBF-31BC-EC5B-FEDED61A7259}"/>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6" name="Footer Placeholder 5">
            <a:extLst>
              <a:ext uri="{FF2B5EF4-FFF2-40B4-BE49-F238E27FC236}">
                <a16:creationId xmlns:a16="http://schemas.microsoft.com/office/drawing/2014/main" id="{5D6F3081-7790-09F8-2CFF-7738CD136E0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821DEE3-AE94-5D7A-0E33-0B91BE6AC030}"/>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4043736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7DD43-1849-C8E5-C291-C10553902AF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0D9D248-222A-FFD7-6DB6-B5EDF1BFA9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446F5-F69E-B3FD-82C7-055E9FAF697D}"/>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5" name="Footer Placeholder 4">
            <a:extLst>
              <a:ext uri="{FF2B5EF4-FFF2-40B4-BE49-F238E27FC236}">
                <a16:creationId xmlns:a16="http://schemas.microsoft.com/office/drawing/2014/main" id="{46BBC8C6-4B3B-3CF0-F73A-E9AB07BCC1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BA6A69-3C22-F120-A57A-1337DFF25708}"/>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188378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BF479C-5C25-09E1-4706-F46B4C6927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DD30ACF-7BA3-186E-E013-4DEDCB6F42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FD5356-0065-93BC-8332-5DD59897526D}"/>
              </a:ext>
            </a:extLst>
          </p:cNvPr>
          <p:cNvSpPr>
            <a:spLocks noGrp="1"/>
          </p:cNvSpPr>
          <p:nvPr>
            <p:ph type="dt" sz="half" idx="10"/>
          </p:nvPr>
        </p:nvSpPr>
        <p:spPr/>
        <p:txBody>
          <a:bodyPr/>
          <a:lstStyle/>
          <a:p>
            <a:fld id="{D55F8B00-CB7E-40F2-80A0-450D53405F6B}" type="datetimeFigureOut">
              <a:rPr lang="en-GB" smtClean="0"/>
              <a:t>16/04/2026</a:t>
            </a:fld>
            <a:endParaRPr lang="en-GB"/>
          </a:p>
        </p:txBody>
      </p:sp>
      <p:sp>
        <p:nvSpPr>
          <p:cNvPr id="5" name="Footer Placeholder 4">
            <a:extLst>
              <a:ext uri="{FF2B5EF4-FFF2-40B4-BE49-F238E27FC236}">
                <a16:creationId xmlns:a16="http://schemas.microsoft.com/office/drawing/2014/main" id="{87514AB1-CF5B-D553-9ABB-DD0FCF7251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7F2EC6-0EEE-1E3D-88CE-A2A257C22B47}"/>
              </a:ext>
            </a:extLst>
          </p:cNvPr>
          <p:cNvSpPr>
            <a:spLocks noGrp="1"/>
          </p:cNvSpPr>
          <p:nvPr>
            <p:ph type="sldNum" sz="quarter" idx="12"/>
          </p:nvPr>
        </p:nvSpPr>
        <p:spPr/>
        <p:txBody>
          <a:bodyPr/>
          <a:lstStyle/>
          <a:p>
            <a:fld id="{F28700D8-2B85-4D1A-BDCB-7189AB3AEFEC}" type="slidenum">
              <a:rPr lang="en-GB" smtClean="0"/>
              <a:t>‹#›</a:t>
            </a:fld>
            <a:endParaRPr lang="en-GB"/>
          </a:p>
        </p:txBody>
      </p:sp>
    </p:spTree>
    <p:extLst>
      <p:ext uri="{BB962C8B-B14F-4D97-AF65-F5344CB8AC3E}">
        <p14:creationId xmlns:p14="http://schemas.microsoft.com/office/powerpoint/2010/main" val="2179815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E60715-D68F-7494-82FA-0DD2D3362D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6DAE8BF-5FD4-2542-B7DF-190FACC229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537C4F-21BE-168E-BA58-7EED31C1FC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5F8B00-CB7E-40F2-80A0-450D53405F6B}" type="datetimeFigureOut">
              <a:rPr lang="en-GB" smtClean="0"/>
              <a:t>16/04/2026</a:t>
            </a:fld>
            <a:endParaRPr lang="en-GB"/>
          </a:p>
        </p:txBody>
      </p:sp>
      <p:sp>
        <p:nvSpPr>
          <p:cNvPr id="5" name="Footer Placeholder 4">
            <a:extLst>
              <a:ext uri="{FF2B5EF4-FFF2-40B4-BE49-F238E27FC236}">
                <a16:creationId xmlns:a16="http://schemas.microsoft.com/office/drawing/2014/main" id="{0DBEC885-8219-D5D5-1174-CA7657EADF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1CCE0E9-25C9-034A-FF5D-91C73613D0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8700D8-2B85-4D1A-BDCB-7189AB3AEFEC}" type="slidenum">
              <a:rPr lang="en-GB" smtClean="0"/>
              <a:t>‹#›</a:t>
            </a:fld>
            <a:endParaRPr lang="en-GB"/>
          </a:p>
        </p:txBody>
      </p:sp>
    </p:spTree>
    <p:extLst>
      <p:ext uri="{BB962C8B-B14F-4D97-AF65-F5344CB8AC3E}">
        <p14:creationId xmlns:p14="http://schemas.microsoft.com/office/powerpoint/2010/main" val="2794480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1707200-C998-9B6F-DA00-D56E58071F10}"/>
              </a:ext>
            </a:extLst>
          </p:cNvPr>
          <p:cNvSpPr>
            <a:spLocks noGrp="1"/>
          </p:cNvSpPr>
          <p:nvPr>
            <p:ph type="ctrTitle"/>
          </p:nvPr>
        </p:nvSpPr>
        <p:spPr>
          <a:xfrm>
            <a:off x="1314824" y="735106"/>
            <a:ext cx="10053763" cy="2928470"/>
          </a:xfrm>
        </p:spPr>
        <p:txBody>
          <a:bodyPr anchor="b">
            <a:normAutofit/>
          </a:bodyPr>
          <a:lstStyle/>
          <a:p>
            <a:pPr algn="l"/>
            <a:r>
              <a:rPr lang="en-GB" sz="4800" dirty="0" err="1">
                <a:solidFill>
                  <a:srgbClr val="FFFFFF"/>
                </a:solidFill>
              </a:rPr>
              <a:t>GlobalMart</a:t>
            </a:r>
            <a:br>
              <a:rPr lang="en-GB" sz="4800" dirty="0">
                <a:solidFill>
                  <a:srgbClr val="FFFFFF"/>
                </a:solidFill>
              </a:rPr>
            </a:br>
            <a:r>
              <a:rPr lang="en-GB" sz="4800" dirty="0">
                <a:solidFill>
                  <a:srgbClr val="FFFFFF"/>
                </a:solidFill>
              </a:rPr>
              <a:t>Sales Analysis </a:t>
            </a:r>
            <a:br>
              <a:rPr lang="en-GB" sz="4800" dirty="0">
                <a:solidFill>
                  <a:srgbClr val="FFFFFF"/>
                </a:solidFill>
              </a:rPr>
            </a:br>
            <a:r>
              <a:rPr lang="en-GB" sz="4800" i="1" dirty="0">
                <a:solidFill>
                  <a:srgbClr val="FFFFFF"/>
                </a:solidFill>
              </a:rPr>
              <a:t>2012-2016</a:t>
            </a:r>
          </a:p>
        </p:txBody>
      </p:sp>
      <p:sp>
        <p:nvSpPr>
          <p:cNvPr id="3" name="Subtitle 2">
            <a:extLst>
              <a:ext uri="{FF2B5EF4-FFF2-40B4-BE49-F238E27FC236}">
                <a16:creationId xmlns:a16="http://schemas.microsoft.com/office/drawing/2014/main" id="{10AB1719-B207-1A03-63BC-4C479B3625CF}"/>
              </a:ext>
            </a:extLst>
          </p:cNvPr>
          <p:cNvSpPr>
            <a:spLocks noGrp="1"/>
          </p:cNvSpPr>
          <p:nvPr>
            <p:ph type="subTitle" idx="1"/>
          </p:nvPr>
        </p:nvSpPr>
        <p:spPr>
          <a:xfrm>
            <a:off x="1350682" y="4870824"/>
            <a:ext cx="10005951" cy="1458258"/>
          </a:xfrm>
        </p:spPr>
        <p:txBody>
          <a:bodyPr anchor="ctr">
            <a:normAutofit/>
          </a:bodyPr>
          <a:lstStyle/>
          <a:p>
            <a:pPr algn="l"/>
            <a:r>
              <a:rPr lang="en-GB" dirty="0"/>
              <a:t>V1.1</a:t>
            </a:r>
          </a:p>
        </p:txBody>
      </p:sp>
    </p:spTree>
    <p:extLst>
      <p:ext uri="{BB962C8B-B14F-4D97-AF65-F5344CB8AC3E}">
        <p14:creationId xmlns:p14="http://schemas.microsoft.com/office/powerpoint/2010/main" val="152217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CBB73D-28EC-DC24-5A90-98B35A725907}"/>
              </a:ext>
            </a:extLst>
          </p:cNvPr>
          <p:cNvSpPr>
            <a:spLocks noGrp="1"/>
          </p:cNvSpPr>
          <p:nvPr>
            <p:ph type="title"/>
          </p:nvPr>
        </p:nvSpPr>
        <p:spPr>
          <a:xfrm>
            <a:off x="1136397" y="502020"/>
            <a:ext cx="5323715" cy="1642970"/>
          </a:xfrm>
        </p:spPr>
        <p:txBody>
          <a:bodyPr vert="horz" lIns="91440" tIns="45720" rIns="91440" bIns="45720" rtlCol="0" anchor="b">
            <a:normAutofit/>
          </a:bodyPr>
          <a:lstStyle/>
          <a:p>
            <a:r>
              <a:rPr lang="en-US" sz="4000" kern="1200">
                <a:solidFill>
                  <a:schemeClr val="tx1"/>
                </a:solidFill>
                <a:latin typeface="+mj-lt"/>
                <a:ea typeface="+mj-ea"/>
                <a:cs typeface="+mj-cs"/>
              </a:rPr>
              <a:t>Most Profitable Categories</a:t>
            </a:r>
          </a:p>
        </p:txBody>
      </p:sp>
      <p:sp>
        <p:nvSpPr>
          <p:cNvPr id="5" name="Content Placeholder 4">
            <a:extLst>
              <a:ext uri="{FF2B5EF4-FFF2-40B4-BE49-F238E27FC236}">
                <a16:creationId xmlns:a16="http://schemas.microsoft.com/office/drawing/2014/main" id="{8ECD13FB-2C0F-B155-F063-A78FB828D760}"/>
              </a:ext>
            </a:extLst>
          </p:cNvPr>
          <p:cNvSpPr>
            <a:spLocks noGrp="1"/>
          </p:cNvSpPr>
          <p:nvPr>
            <p:ph sz="half" idx="2"/>
          </p:nvPr>
        </p:nvSpPr>
        <p:spPr>
          <a:xfrm>
            <a:off x="457201" y="2405894"/>
            <a:ext cx="6002912" cy="3950086"/>
          </a:xfrm>
        </p:spPr>
        <p:txBody>
          <a:bodyPr vert="horz" lIns="91440" tIns="45720" rIns="91440" bIns="45720" rtlCol="0" anchor="t">
            <a:normAutofit/>
          </a:bodyPr>
          <a:lstStyle/>
          <a:p>
            <a:r>
              <a:rPr lang="en-US" sz="1800" dirty="0"/>
              <a:t>Technology, Furniture and Office Supplies. </a:t>
            </a:r>
          </a:p>
          <a:p>
            <a:r>
              <a:rPr lang="en-US" sz="1800" dirty="0"/>
              <a:t>Technology is the best-selling category for this company. Furniture is a close second.  Technology sales are approximately double Office Supplies. </a:t>
            </a:r>
          </a:p>
          <a:p>
            <a:pPr marL="0" indent="0">
              <a:buNone/>
            </a:pPr>
            <a:r>
              <a:rPr lang="en-US" sz="1800" dirty="0"/>
              <a:t>Recommendations:</a:t>
            </a:r>
          </a:p>
          <a:p>
            <a:r>
              <a:rPr lang="en-US" sz="1800" dirty="0"/>
              <a:t>Technology and Furniture sales indicate these are good areas for additional investment or marketing efforts.  </a:t>
            </a:r>
          </a:p>
          <a:p>
            <a:r>
              <a:rPr lang="en-US" sz="1800" dirty="0"/>
              <a:t>Further investigation of Office Supplies to consider either strategies to boost sales or whether to redirect focus to other categories.</a:t>
            </a:r>
          </a:p>
        </p:txBody>
      </p:sp>
      <p:sp>
        <p:nvSpPr>
          <p:cNvPr id="2057" name="Rectangle 205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1" name="Rectangle 206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3" name="Rectangle 206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a:extLst>
              <a:ext uri="{FF2B5EF4-FFF2-40B4-BE49-F238E27FC236}">
                <a16:creationId xmlns:a16="http://schemas.microsoft.com/office/drawing/2014/main" id="{E57409C9-746C-E988-4676-9F5935AA220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72944" y="1560068"/>
            <a:ext cx="5519056" cy="4180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956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281D43-B68F-C685-0706-5AA14A37507C}"/>
              </a:ext>
            </a:extLst>
          </p:cNvPr>
          <p:cNvSpPr>
            <a:spLocks noGrp="1"/>
          </p:cNvSpPr>
          <p:nvPr>
            <p:ph type="title"/>
          </p:nvPr>
        </p:nvSpPr>
        <p:spPr>
          <a:xfrm>
            <a:off x="1136397" y="502020"/>
            <a:ext cx="5323715" cy="913123"/>
          </a:xfrm>
        </p:spPr>
        <p:txBody>
          <a:bodyPr vert="horz" lIns="91440" tIns="45720" rIns="91440" bIns="45720" rtlCol="0" anchor="b">
            <a:normAutofit/>
          </a:bodyPr>
          <a:lstStyle/>
          <a:p>
            <a:r>
              <a:rPr lang="en-US" sz="4000" kern="1200" dirty="0">
                <a:solidFill>
                  <a:schemeClr val="tx1"/>
                </a:solidFill>
                <a:latin typeface="+mj-lt"/>
                <a:ea typeface="+mj-ea"/>
                <a:cs typeface="+mj-cs"/>
              </a:rPr>
              <a:t>Sales Trends</a:t>
            </a:r>
          </a:p>
        </p:txBody>
      </p:sp>
      <p:sp>
        <p:nvSpPr>
          <p:cNvPr id="5" name="Content Placeholder 4">
            <a:extLst>
              <a:ext uri="{FF2B5EF4-FFF2-40B4-BE49-F238E27FC236}">
                <a16:creationId xmlns:a16="http://schemas.microsoft.com/office/drawing/2014/main" id="{4903C1B4-3553-2D42-582D-286039393AE6}"/>
              </a:ext>
            </a:extLst>
          </p:cNvPr>
          <p:cNvSpPr>
            <a:spLocks noGrp="1"/>
          </p:cNvSpPr>
          <p:nvPr>
            <p:ph sz="half" idx="2"/>
          </p:nvPr>
        </p:nvSpPr>
        <p:spPr>
          <a:xfrm>
            <a:off x="381001" y="1752600"/>
            <a:ext cx="6852008" cy="4647768"/>
          </a:xfrm>
        </p:spPr>
        <p:txBody>
          <a:bodyPr vert="horz" lIns="91440" tIns="45720" rIns="91440" bIns="45720" rtlCol="0" anchor="t">
            <a:normAutofit fontScale="92500" lnSpcReduction="20000"/>
          </a:bodyPr>
          <a:lstStyle/>
          <a:p>
            <a:r>
              <a:rPr lang="en-US" sz="2100" dirty="0"/>
              <a:t>Global sales show an upward trend between 2012 and 2016: monthly sales increasing over time. </a:t>
            </a:r>
          </a:p>
          <a:p>
            <a:r>
              <a:rPr lang="en-US" sz="2100" dirty="0"/>
              <a:t>There is a drop in sales in the first season of each year. </a:t>
            </a:r>
          </a:p>
          <a:p>
            <a:r>
              <a:rPr lang="en-US" sz="2100" dirty="0"/>
              <a:t>Peaks could be due to events or promotions, or seasonal variation.</a:t>
            </a:r>
          </a:p>
          <a:p>
            <a:pPr marL="0" indent="0">
              <a:buNone/>
            </a:pPr>
            <a:r>
              <a:rPr lang="en-US" sz="2100" dirty="0"/>
              <a:t>Recommendations: </a:t>
            </a:r>
          </a:p>
          <a:p>
            <a:r>
              <a:rPr lang="en-US" sz="2100" dirty="0"/>
              <a:t>Reduce inventory in late December to save on cost during the slump in the first quarter</a:t>
            </a:r>
          </a:p>
          <a:p>
            <a:r>
              <a:rPr lang="en-US" sz="2100" dirty="0"/>
              <a:t>Assign the most marketing budget to the June-September season where people are most likely to spend</a:t>
            </a:r>
          </a:p>
          <a:p>
            <a:r>
              <a:rPr lang="en-US" sz="2100" dirty="0"/>
              <a:t>Further investigation may reveal insights into the variable month of the seasonal peak. Compare these peaks to internal marketing efforts and global events</a:t>
            </a:r>
          </a:p>
          <a:p>
            <a:r>
              <a:rPr lang="en-US" sz="2100" dirty="0"/>
              <a:t>The upward trend is a sign of healthy growth. It’s likely a good time to look into a loyalty program to retain these customers long-term</a:t>
            </a:r>
          </a:p>
          <a:p>
            <a:endParaRPr lang="en-US" sz="800" dirty="0"/>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2">
            <a:extLst>
              <a:ext uri="{FF2B5EF4-FFF2-40B4-BE49-F238E27FC236}">
                <a16:creationId xmlns:a16="http://schemas.microsoft.com/office/drawing/2014/main" id="{A499FC39-B1A8-431B-B8B0-1659F10F92D1}"/>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7233008" y="170228"/>
            <a:ext cx="4781324" cy="242569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F00C6A1-0164-9045-7131-67727981E58B}"/>
              </a:ext>
            </a:extLst>
          </p:cNvPr>
          <p:cNvSpPr txBox="1"/>
          <p:nvPr/>
        </p:nvSpPr>
        <p:spPr>
          <a:xfrm>
            <a:off x="8836424" y="2649461"/>
            <a:ext cx="2987210" cy="1384995"/>
          </a:xfrm>
          <a:prstGeom prst="rect">
            <a:avLst/>
          </a:prstGeom>
          <a:noFill/>
        </p:spPr>
        <p:txBody>
          <a:bodyPr wrap="square">
            <a:spAutoFit/>
          </a:bodyPr>
          <a:lstStyle/>
          <a:p>
            <a:r>
              <a:rPr lang="en-US" sz="1400" dirty="0">
                <a:solidFill>
                  <a:schemeClr val="bg1"/>
                </a:solidFill>
              </a:rPr>
              <a:t>Significant peaks in sales occurred in the mid to late summer each year:  </a:t>
            </a:r>
          </a:p>
          <a:p>
            <a:pPr lvl="1"/>
            <a:r>
              <a:rPr lang="en-US" sz="1400" dirty="0">
                <a:solidFill>
                  <a:schemeClr val="bg1"/>
                </a:solidFill>
              </a:rPr>
              <a:t>Nov 2012 </a:t>
            </a:r>
          </a:p>
          <a:p>
            <a:pPr lvl="1"/>
            <a:r>
              <a:rPr lang="en-US" sz="1400" dirty="0">
                <a:solidFill>
                  <a:schemeClr val="bg1"/>
                </a:solidFill>
              </a:rPr>
              <a:t>Aug 2013</a:t>
            </a:r>
          </a:p>
          <a:p>
            <a:pPr lvl="1"/>
            <a:r>
              <a:rPr lang="en-US" sz="1400" dirty="0">
                <a:solidFill>
                  <a:schemeClr val="bg1"/>
                </a:solidFill>
              </a:rPr>
              <a:t>Jun 2014 </a:t>
            </a:r>
          </a:p>
          <a:p>
            <a:pPr lvl="1"/>
            <a:r>
              <a:rPr lang="en-US" sz="1400" dirty="0">
                <a:solidFill>
                  <a:schemeClr val="bg1"/>
                </a:solidFill>
              </a:rPr>
              <a:t>Sep 2015 </a:t>
            </a:r>
          </a:p>
        </p:txBody>
      </p:sp>
    </p:spTree>
    <p:extLst>
      <p:ext uri="{BB962C8B-B14F-4D97-AF65-F5344CB8AC3E}">
        <p14:creationId xmlns:p14="http://schemas.microsoft.com/office/powerpoint/2010/main" val="3753529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89245-672B-7F17-5C5B-5A530B2E9AF6}"/>
              </a:ext>
            </a:extLst>
          </p:cNvPr>
          <p:cNvSpPr>
            <a:spLocks noGrp="1"/>
          </p:cNvSpPr>
          <p:nvPr>
            <p:ph type="title"/>
          </p:nvPr>
        </p:nvSpPr>
        <p:spPr>
          <a:xfrm>
            <a:off x="1136397" y="502020"/>
            <a:ext cx="5323715" cy="1642970"/>
          </a:xfrm>
        </p:spPr>
        <p:txBody>
          <a:bodyPr vert="horz" lIns="91440" tIns="45720" rIns="91440" bIns="45720" rtlCol="0" anchor="b">
            <a:normAutofit/>
          </a:bodyPr>
          <a:lstStyle/>
          <a:p>
            <a:r>
              <a:rPr lang="en-US" sz="4000" kern="1200">
                <a:solidFill>
                  <a:schemeClr val="tx1"/>
                </a:solidFill>
                <a:latin typeface="+mj-lt"/>
                <a:ea typeface="+mj-ea"/>
                <a:cs typeface="+mj-cs"/>
              </a:rPr>
              <a:t>Sales and Profits by Region</a:t>
            </a:r>
          </a:p>
        </p:txBody>
      </p:sp>
      <p:sp>
        <p:nvSpPr>
          <p:cNvPr id="5" name="Content Placeholder 4">
            <a:extLst>
              <a:ext uri="{FF2B5EF4-FFF2-40B4-BE49-F238E27FC236}">
                <a16:creationId xmlns:a16="http://schemas.microsoft.com/office/drawing/2014/main" id="{C7CA8193-15BE-DDFD-F150-A1DF5051D382}"/>
              </a:ext>
            </a:extLst>
          </p:cNvPr>
          <p:cNvSpPr>
            <a:spLocks noGrp="1"/>
          </p:cNvSpPr>
          <p:nvPr>
            <p:ph sz="half" idx="2"/>
          </p:nvPr>
        </p:nvSpPr>
        <p:spPr>
          <a:xfrm>
            <a:off x="1144923" y="2405894"/>
            <a:ext cx="5315189" cy="3535083"/>
          </a:xfrm>
        </p:spPr>
        <p:txBody>
          <a:bodyPr vert="horz" lIns="91440" tIns="45720" rIns="91440" bIns="45720" rtlCol="0" anchor="t">
            <a:normAutofit lnSpcReduction="10000"/>
          </a:bodyPr>
          <a:lstStyle/>
          <a:p>
            <a:r>
              <a:rPr lang="en-US" sz="1800" dirty="0"/>
              <a:t>Regions with highest sales are Western Europe, Oceana, and Southern and Eastern Asia.</a:t>
            </a:r>
          </a:p>
          <a:p>
            <a:r>
              <a:rPr lang="en-US" sz="1800" dirty="0"/>
              <a:t>Region sales vary by product category: e.g. </a:t>
            </a:r>
          </a:p>
          <a:p>
            <a:pPr lvl="1"/>
            <a:r>
              <a:rPr lang="en-US" sz="1800" dirty="0"/>
              <a:t>Southern Europe is a particularly high purchaser of office supplies relative to other products, </a:t>
            </a:r>
          </a:p>
          <a:p>
            <a:pPr lvl="1"/>
            <a:r>
              <a:rPr lang="en-US" sz="1800" dirty="0"/>
              <a:t>Central America shows a preference for Technology. </a:t>
            </a:r>
          </a:p>
          <a:p>
            <a:pPr lvl="1"/>
            <a:r>
              <a:rPr lang="en-US" sz="1800" dirty="0"/>
              <a:t>Oceana dominates sales of furniture supplies. </a:t>
            </a:r>
          </a:p>
          <a:p>
            <a:pPr marL="0" indent="0">
              <a:buNone/>
            </a:pPr>
            <a:r>
              <a:rPr lang="en-US" sz="1800" dirty="0"/>
              <a:t>Recommendations:</a:t>
            </a:r>
          </a:p>
          <a:p>
            <a:r>
              <a:rPr lang="en-US" sz="1800" dirty="0"/>
              <a:t>Targeted marketing efforts specific to the unique customer product preferences in each region.</a:t>
            </a:r>
          </a:p>
        </p:txBody>
      </p:sp>
      <p:sp>
        <p:nvSpPr>
          <p:cNvPr id="4105" name="Rectangle 4104">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9" name="Rectangle 4108">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1" name="Rectangle 4110">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a:extLst>
              <a:ext uri="{FF2B5EF4-FFF2-40B4-BE49-F238E27FC236}">
                <a16:creationId xmlns:a16="http://schemas.microsoft.com/office/drawing/2014/main" id="{5774DBE7-CCEE-C173-7636-E9848977D2B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6460113" y="1754299"/>
            <a:ext cx="5503288" cy="4058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348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9826A-A48A-E408-D045-F930FE813AC3}"/>
              </a:ext>
            </a:extLst>
          </p:cNvPr>
          <p:cNvSpPr>
            <a:spLocks noGrp="1"/>
          </p:cNvSpPr>
          <p:nvPr>
            <p:ph type="title"/>
          </p:nvPr>
        </p:nvSpPr>
        <p:spPr>
          <a:xfrm>
            <a:off x="1136397" y="502020"/>
            <a:ext cx="5323715" cy="1011094"/>
          </a:xfrm>
        </p:spPr>
        <p:txBody>
          <a:bodyPr vert="horz" lIns="91440" tIns="45720" rIns="91440" bIns="45720" rtlCol="0" anchor="b">
            <a:normAutofit/>
          </a:bodyPr>
          <a:lstStyle/>
          <a:p>
            <a:r>
              <a:rPr lang="en-US" sz="4000" kern="1200" dirty="0">
                <a:solidFill>
                  <a:schemeClr val="tx1"/>
                </a:solidFill>
                <a:latin typeface="+mj-lt"/>
                <a:ea typeface="+mj-ea"/>
                <a:cs typeface="+mj-cs"/>
              </a:rPr>
              <a:t>Discount vs Profit</a:t>
            </a:r>
          </a:p>
        </p:txBody>
      </p:sp>
      <p:sp>
        <p:nvSpPr>
          <p:cNvPr id="5" name="Content Placeholder 4">
            <a:extLst>
              <a:ext uri="{FF2B5EF4-FFF2-40B4-BE49-F238E27FC236}">
                <a16:creationId xmlns:a16="http://schemas.microsoft.com/office/drawing/2014/main" id="{2EBEE799-5D6A-CE1F-7084-4C0A33B29261}"/>
              </a:ext>
            </a:extLst>
          </p:cNvPr>
          <p:cNvSpPr>
            <a:spLocks noGrp="1"/>
          </p:cNvSpPr>
          <p:nvPr>
            <p:ph sz="half" idx="2"/>
          </p:nvPr>
        </p:nvSpPr>
        <p:spPr>
          <a:xfrm>
            <a:off x="1136397" y="1883379"/>
            <a:ext cx="6290020" cy="4277935"/>
          </a:xfrm>
        </p:spPr>
        <p:txBody>
          <a:bodyPr vert="horz" lIns="91440" tIns="45720" rIns="91440" bIns="45720" rtlCol="0" anchor="t">
            <a:normAutofit/>
          </a:bodyPr>
          <a:lstStyle/>
          <a:p>
            <a:r>
              <a:rPr lang="en-US" sz="1800" dirty="0"/>
              <a:t>Global data shows a total profit of 288920, and a total discount of 93, suggesting discounts are a </a:t>
            </a:r>
            <a:r>
              <a:rPr lang="en-US" sz="1800" b="1" dirty="0"/>
              <a:t>very minor </a:t>
            </a:r>
            <a:r>
              <a:rPr lang="en-US" sz="1800" dirty="0"/>
              <a:t>factor when considering influencers on profit. </a:t>
            </a:r>
          </a:p>
          <a:p>
            <a:r>
              <a:rPr lang="en-US" sz="1800" dirty="0"/>
              <a:t>There is a moderate negative correlation between Discount and Profit suggesting that greater discounts are somewhat associated with </a:t>
            </a:r>
            <a:r>
              <a:rPr lang="en-US" sz="1800" b="1" dirty="0"/>
              <a:t>reduced profits</a:t>
            </a:r>
            <a:r>
              <a:rPr lang="en-US" sz="1800" dirty="0"/>
              <a:t>. </a:t>
            </a:r>
          </a:p>
          <a:p>
            <a:pPr marL="0" indent="0">
              <a:buNone/>
            </a:pPr>
            <a:r>
              <a:rPr lang="en-US" sz="1800" dirty="0"/>
              <a:t>Recommendations</a:t>
            </a:r>
          </a:p>
          <a:p>
            <a:r>
              <a:rPr lang="en-US" sz="1800" dirty="0"/>
              <a:t>Discounts are rarely applied currently so are not meaningfully impacting profits. </a:t>
            </a:r>
          </a:p>
          <a:p>
            <a:r>
              <a:rPr lang="en-US" sz="1800" dirty="0"/>
              <a:t>In considering future marketing approaches, existing data suggests discounts ineffective in increasing profits.</a:t>
            </a:r>
          </a:p>
          <a:p>
            <a:r>
              <a:rPr lang="en-US" sz="1800" dirty="0"/>
              <a:t>Further analysis may investigate the effect of discounts on other main goals such as sales quantity and company reputation.</a:t>
            </a:r>
          </a:p>
        </p:txBody>
      </p:sp>
      <p:sp>
        <p:nvSpPr>
          <p:cNvPr id="5129" name="Rectangle 5128">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3" name="Rectangle 5132">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5" name="Rectangle 5134">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122" name="Picture 2">
            <a:extLst>
              <a:ext uri="{FF2B5EF4-FFF2-40B4-BE49-F238E27FC236}">
                <a16:creationId xmlns:a16="http://schemas.microsoft.com/office/drawing/2014/main" id="{F690CC97-A552-5F7A-E53E-61BE0AA1510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7843801" y="883651"/>
            <a:ext cx="4170530" cy="3044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733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0720C50-4C62-1AA8-5634-A8097A85EF81}"/>
              </a:ext>
            </a:extLst>
          </p:cNvPr>
          <p:cNvSpPr>
            <a:spLocks noGrp="1"/>
          </p:cNvSpPr>
          <p:nvPr>
            <p:ph type="title"/>
          </p:nvPr>
        </p:nvSpPr>
        <p:spPr>
          <a:xfrm>
            <a:off x="1371597" y="348865"/>
            <a:ext cx="10044023" cy="877729"/>
          </a:xfrm>
        </p:spPr>
        <p:txBody>
          <a:bodyPr anchor="ctr">
            <a:normAutofit/>
          </a:bodyPr>
          <a:lstStyle/>
          <a:p>
            <a:r>
              <a:rPr lang="en-GB" sz="4000">
                <a:solidFill>
                  <a:srgbClr val="FFFFFF"/>
                </a:solidFill>
              </a:rPr>
              <a:t>Recommendations</a:t>
            </a:r>
          </a:p>
        </p:txBody>
      </p:sp>
      <p:graphicFrame>
        <p:nvGraphicFramePr>
          <p:cNvPr id="8" name="Diagram 7">
            <a:extLst>
              <a:ext uri="{FF2B5EF4-FFF2-40B4-BE49-F238E27FC236}">
                <a16:creationId xmlns:a16="http://schemas.microsoft.com/office/drawing/2014/main" id="{C836EF1C-9286-1ED7-55D0-B1253ED074F1}"/>
              </a:ext>
            </a:extLst>
          </p:cNvPr>
          <p:cNvGraphicFramePr/>
          <p:nvPr>
            <p:extLst>
              <p:ext uri="{D42A27DB-BD31-4B8C-83A1-F6EECF244321}">
                <p14:modId xmlns:p14="http://schemas.microsoft.com/office/powerpoint/2010/main" val="76613878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8380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43D139-65C2-7700-EDD9-D7E22CC03656}"/>
              </a:ext>
            </a:extLst>
          </p:cNvPr>
          <p:cNvSpPr>
            <a:spLocks noGrp="1"/>
          </p:cNvSpPr>
          <p:nvPr>
            <p:ph type="title"/>
          </p:nvPr>
        </p:nvSpPr>
        <p:spPr>
          <a:xfrm>
            <a:off x="466722" y="586855"/>
            <a:ext cx="3201366" cy="2508029"/>
          </a:xfrm>
        </p:spPr>
        <p:txBody>
          <a:bodyPr anchor="b">
            <a:normAutofit/>
          </a:bodyPr>
          <a:lstStyle/>
          <a:p>
            <a:pPr algn="r"/>
            <a:r>
              <a:rPr lang="en-US" sz="3400" b="1">
                <a:solidFill>
                  <a:srgbClr val="FFFFFF"/>
                </a:solidFill>
              </a:rPr>
              <a:t>Summary: GlobalMart</a:t>
            </a:r>
            <a:br>
              <a:rPr lang="en-US" sz="3400" b="1">
                <a:solidFill>
                  <a:srgbClr val="FFFFFF"/>
                </a:solidFill>
              </a:rPr>
            </a:br>
            <a:r>
              <a:rPr lang="en-US" sz="3400" b="1">
                <a:solidFill>
                  <a:srgbClr val="FFFFFF"/>
                </a:solidFill>
              </a:rPr>
              <a:t>(2012–2016)</a:t>
            </a:r>
            <a:endParaRPr lang="en-GB" sz="3400" dirty="0">
              <a:solidFill>
                <a:srgbClr val="FFFFFF"/>
              </a:solidFill>
            </a:endParaRPr>
          </a:p>
        </p:txBody>
      </p:sp>
      <p:sp>
        <p:nvSpPr>
          <p:cNvPr id="3" name="Content Placeholder 2">
            <a:extLst>
              <a:ext uri="{FF2B5EF4-FFF2-40B4-BE49-F238E27FC236}">
                <a16:creationId xmlns:a16="http://schemas.microsoft.com/office/drawing/2014/main" id="{39C40B44-0853-AE92-F783-B78B752B2D99}"/>
              </a:ext>
            </a:extLst>
          </p:cNvPr>
          <p:cNvSpPr>
            <a:spLocks noGrp="1"/>
          </p:cNvSpPr>
          <p:nvPr>
            <p:ph idx="1"/>
          </p:nvPr>
        </p:nvSpPr>
        <p:spPr>
          <a:xfrm>
            <a:off x="4266266" y="97971"/>
            <a:ext cx="7784220" cy="6640285"/>
          </a:xfrm>
        </p:spPr>
        <p:txBody>
          <a:bodyPr anchor="ctr">
            <a:normAutofit lnSpcReduction="10000"/>
          </a:bodyPr>
          <a:lstStyle/>
          <a:p>
            <a:pPr marL="0" indent="0">
              <a:buNone/>
            </a:pPr>
            <a:r>
              <a:rPr lang="en-US" sz="1400" b="1"/>
              <a:t>Sales Trends and Seasonality</a:t>
            </a:r>
            <a:endParaRPr lang="en-GB" sz="1400"/>
          </a:p>
          <a:p>
            <a:pPr marL="0" indent="0">
              <a:buNone/>
            </a:pPr>
            <a:r>
              <a:rPr lang="en-US" sz="1400"/>
              <a:t>Between 2012-2016, GlobalMart maintained a healthy upward trajectory. Monthly sales show predictable peaks and troughs each year: a recurring slump in the first quarter and significant sales spikes occurring annually between June and September. The exact month of the annual peak has varied from June to November, and further investigation is recommended to explore what factors influence this.</a:t>
            </a:r>
            <a:endParaRPr lang="en-GB" sz="1400"/>
          </a:p>
          <a:p>
            <a:pPr marL="0" indent="0">
              <a:buNone/>
            </a:pPr>
            <a:r>
              <a:rPr lang="en-US" sz="1400" b="1"/>
              <a:t>Category and Regional Insights</a:t>
            </a:r>
            <a:endParaRPr lang="en-GB" sz="1400"/>
          </a:p>
          <a:p>
            <a:pPr marL="0" indent="0">
              <a:buNone/>
            </a:pPr>
            <a:r>
              <a:rPr lang="en-US" sz="1400" b="1"/>
              <a:t>Technology</a:t>
            </a:r>
            <a:r>
              <a:rPr lang="en-US" sz="1400"/>
              <a:t> products dominate total sales, with sales approximately double those of </a:t>
            </a:r>
            <a:r>
              <a:rPr lang="en-US" sz="1400" b="1"/>
              <a:t>Office Supplies</a:t>
            </a:r>
            <a:r>
              <a:rPr lang="en-US" sz="1400"/>
              <a:t>. </a:t>
            </a:r>
            <a:r>
              <a:rPr lang="en-US" sz="1400" b="1"/>
              <a:t>Furniture</a:t>
            </a:r>
            <a:r>
              <a:rPr lang="en-US" sz="1400"/>
              <a:t> is a close second. The data highlights distinct regional preferences: </a:t>
            </a:r>
            <a:r>
              <a:rPr lang="en-US" sz="1400" b="1"/>
              <a:t>Oceania</a:t>
            </a:r>
            <a:r>
              <a:rPr lang="en-US" sz="1400"/>
              <a:t> dominates the Furniture market, </a:t>
            </a:r>
            <a:r>
              <a:rPr lang="en-US" sz="1400" b="1"/>
              <a:t>Central America</a:t>
            </a:r>
            <a:r>
              <a:rPr lang="en-US" sz="1400"/>
              <a:t> shows a bias toward Technology, and </a:t>
            </a:r>
            <a:r>
              <a:rPr lang="en-US" sz="1400" b="1"/>
              <a:t>Southern Europe</a:t>
            </a:r>
            <a:r>
              <a:rPr lang="en-US" sz="1400"/>
              <a:t> favours Office Supplies. This suggests a one-size-fits-all global marketing strategy may be less effective than a localized, category-specific approach.</a:t>
            </a:r>
            <a:endParaRPr lang="en-GB" sz="1400"/>
          </a:p>
          <a:p>
            <a:pPr marL="0" indent="0">
              <a:buNone/>
            </a:pPr>
            <a:r>
              <a:rPr lang="en-US" sz="1400" b="1"/>
              <a:t>Discounts</a:t>
            </a:r>
            <a:endParaRPr lang="en-GB" sz="1400"/>
          </a:p>
          <a:p>
            <a:pPr marL="0" indent="0">
              <a:buNone/>
            </a:pPr>
            <a:r>
              <a:rPr lang="en-US" sz="1400"/>
              <a:t>Discounts are currently used minimally within this Store. There is a moderate negative correlation between discounts and profit, suggesting that increasing discounts would not translate to higher profitability for the Superstore. This implies the brand holds enough value to maintain margins without relying on aggressive price-cutting strategies.</a:t>
            </a:r>
            <a:endParaRPr lang="en-GB" sz="1400"/>
          </a:p>
          <a:p>
            <a:pPr marL="0" indent="0">
              <a:buNone/>
            </a:pPr>
            <a:r>
              <a:rPr lang="en-US" sz="1400" b="1"/>
              <a:t>Strategic Recommendations</a:t>
            </a:r>
            <a:endParaRPr lang="en-GB" sz="1400"/>
          </a:p>
          <a:p>
            <a:pPr marL="0" indent="0">
              <a:buNone/>
            </a:pPr>
            <a:r>
              <a:rPr lang="en-US" sz="1400"/>
              <a:t>To capitalize on these findings, the organization should consider the following:</a:t>
            </a:r>
            <a:endParaRPr lang="en-GB" sz="1400"/>
          </a:p>
          <a:p>
            <a:r>
              <a:rPr lang="en-US" sz="1400" b="1"/>
              <a:t>Operational Efficiency:</a:t>
            </a:r>
            <a:r>
              <a:rPr lang="en-US" sz="1400"/>
              <a:t> Minimise inventory during the first quarter to reduce costs during this slump, and reallocate the most marketing budget to the June–September  window when sales are much higher.</a:t>
            </a:r>
            <a:endParaRPr lang="en-GB" sz="1400"/>
          </a:p>
          <a:p>
            <a:r>
              <a:rPr lang="en-US" sz="1400" b="1"/>
              <a:t>Targeted Growth:</a:t>
            </a:r>
            <a:r>
              <a:rPr lang="en-US" sz="1400"/>
              <a:t> Prioritize investment in Technology and Furniture, while deploying region-specific campaigns (e.g., Office Supplies in Southern Europe) to align with proven local demand.</a:t>
            </a:r>
            <a:endParaRPr lang="en-GB" sz="1400"/>
          </a:p>
          <a:p>
            <a:r>
              <a:rPr lang="en-US" sz="1400" b="1"/>
              <a:t>Customer Retention:</a:t>
            </a:r>
            <a:r>
              <a:rPr lang="en-US" sz="1400"/>
              <a:t> Transition away from traditional discounting in favor of a global </a:t>
            </a:r>
            <a:r>
              <a:rPr lang="en-US" sz="1400" b="1"/>
              <a:t>Loyalty Program</a:t>
            </a:r>
            <a:r>
              <a:rPr lang="en-US" sz="1400"/>
              <a:t>. This will leverage the current upward sales trend to lock in long-term customer retention and future revenue without eroding profit margins.</a:t>
            </a:r>
            <a:endParaRPr lang="en-GB" sz="1400"/>
          </a:p>
          <a:p>
            <a:pPr marL="0" indent="0">
              <a:buNone/>
            </a:pPr>
            <a:r>
              <a:rPr lang="en-US" sz="1400"/>
              <a:t>In conclusion, by aligning inventory with seasonal cycles and tailoring product focuses to regional strengths, the Global Superstore is well-positioned to convert its current upward trend into sustainable, high-margin global dominance.</a:t>
            </a:r>
            <a:endParaRPr lang="en-GB" sz="1400" dirty="0"/>
          </a:p>
        </p:txBody>
      </p:sp>
      <p:sp>
        <p:nvSpPr>
          <p:cNvPr id="5" name="TextBox 4">
            <a:extLst>
              <a:ext uri="{FF2B5EF4-FFF2-40B4-BE49-F238E27FC236}">
                <a16:creationId xmlns:a16="http://schemas.microsoft.com/office/drawing/2014/main" id="{BB3A8700-A748-067B-505B-B2A6EE23F48F}"/>
              </a:ext>
            </a:extLst>
          </p:cNvPr>
          <p:cNvSpPr txBox="1"/>
          <p:nvPr/>
        </p:nvSpPr>
        <p:spPr>
          <a:xfrm>
            <a:off x="228439" y="3553711"/>
            <a:ext cx="3580937" cy="2554545"/>
          </a:xfrm>
          <a:prstGeom prst="rect">
            <a:avLst/>
          </a:prstGeom>
          <a:solidFill>
            <a:schemeClr val="bg2"/>
          </a:solidFill>
        </p:spPr>
        <p:txBody>
          <a:bodyPr wrap="square">
            <a:spAutoFit/>
          </a:bodyPr>
          <a:lstStyle/>
          <a:p>
            <a:pPr marL="0" indent="0">
              <a:buNone/>
            </a:pPr>
            <a:r>
              <a:rPr lang="en-US" sz="1600"/>
              <a:t>This report provides a comprehensive evaluation of GlobalMart’s sales performance, regional dynamics, and profitability drivers over a four-year period. It shows a business in a strong growth phase, characterized by a consistent upward trend in sales, alongside specific seasonal and regional variations which can be opportunities for further growth.</a:t>
            </a:r>
            <a:endParaRPr lang="en-GB" sz="1600" dirty="0"/>
          </a:p>
        </p:txBody>
      </p:sp>
    </p:spTree>
    <p:extLst>
      <p:ext uri="{BB962C8B-B14F-4D97-AF65-F5344CB8AC3E}">
        <p14:creationId xmlns:p14="http://schemas.microsoft.com/office/powerpoint/2010/main" val="2664587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Parallax</Template>
  <TotalTime>5487</TotalTime>
  <Words>886</Words>
  <Application>Microsoft Office PowerPoint</Application>
  <PresentationFormat>Widescreen</PresentationFormat>
  <Paragraphs>63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GlobalMart Sales Analysis  2012-2016</vt:lpstr>
      <vt:lpstr>Most Profitable Categories</vt:lpstr>
      <vt:lpstr>Sales Trends</vt:lpstr>
      <vt:lpstr>Sales and Profits by Region</vt:lpstr>
      <vt:lpstr>Discount vs Profit</vt:lpstr>
      <vt:lpstr>Recommendations</vt:lpstr>
      <vt:lpstr>Summary: GlobalMart (2012–2016)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Olly Wilder</dc:creator>
  <cp:lastModifiedBy>Olly Wilder</cp:lastModifiedBy>
  <cp:revision>6</cp:revision>
  <dcterms:created xsi:type="dcterms:W3CDTF">2026-02-21T17:23:35Z</dcterms:created>
  <dcterms:modified xsi:type="dcterms:W3CDTF">2026-04-20T09:18:23Z</dcterms:modified>
</cp:coreProperties>
</file>